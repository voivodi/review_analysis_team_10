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6" r:id="rId3"/>
    <p:sldId id="268" r:id="rId4"/>
    <p:sldId id="267" r:id="rId5"/>
    <p:sldId id="269" r:id="rId6"/>
    <p:sldId id="273" r:id="rId7"/>
    <p:sldId id="275" r:id="rId8"/>
    <p:sldId id="258" r:id="rId9"/>
    <p:sldId id="274" r:id="rId10"/>
    <p:sldId id="259" r:id="rId11"/>
    <p:sldId id="260" r:id="rId12"/>
    <p:sldId id="261" r:id="rId13"/>
    <p:sldId id="262" r:id="rId14"/>
    <p:sldId id="263" r:id="rId15"/>
    <p:sldId id="264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17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Отзывы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2055</c:v>
                </c:pt>
                <c:pt idx="1">
                  <c:v>1063</c:v>
                </c:pt>
                <c:pt idx="2">
                  <c:v>1687</c:v>
                </c:pt>
                <c:pt idx="3">
                  <c:v>2521</c:v>
                </c:pt>
                <c:pt idx="4">
                  <c:v>25792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EB-4AB8-AE0A-133ABF8B5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371.200000000001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Упоминания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Еда и качество</c:v>
                </c:pt>
                <c:pt idx="1">
                  <c:v>Сервис</c:v>
                </c:pt>
                <c:pt idx="2">
                  <c:v>Атмосфера</c:v>
                </c:pt>
                <c:pt idx="3">
                  <c:v>Скорость/очередь</c:v>
                </c:pt>
                <c:pt idx="4">
                  <c:v>Лояльность</c:v>
                </c:pt>
                <c:pt idx="5">
                  <c:v>Чистота</c:v>
                </c:pt>
                <c:pt idx="6">
                  <c:v>Цена/ценность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35439</c:v>
                </c:pt>
                <c:pt idx="1">
                  <c:v>21359</c:v>
                </c:pt>
                <c:pt idx="2">
                  <c:v>19949</c:v>
                </c:pt>
                <c:pt idx="3">
                  <c:v>8943</c:v>
                </c:pt>
                <c:pt idx="4">
                  <c:v>5110</c:v>
                </c:pt>
                <c:pt idx="5">
                  <c:v>1584</c:v>
                </c:pt>
                <c:pt idx="6">
                  <c:v>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20-4794-A730-CCDD52701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754.85"/>
          <c:min val="0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(1–2★)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минут</c:v>
                </c:pt>
                <c:pt idx="1">
                  <c:v>ждал</c:v>
                </c:pt>
                <c:pt idx="2">
                  <c:v>час</c:v>
                </c:pt>
                <c:pt idx="3">
                  <c:v>долго</c:v>
                </c:pt>
                <c:pt idx="4">
                  <c:v>очередь</c:v>
                </c:pt>
                <c:pt idx="5">
                  <c:v>ожидание</c:v>
                </c:pt>
                <c:pt idx="6">
                  <c:v>заказ</c:v>
                </c:pt>
                <c:pt idx="7">
                  <c:v>принесли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755</c:v>
                </c:pt>
                <c:pt idx="1">
                  <c:v>351</c:v>
                </c:pt>
                <c:pt idx="2">
                  <c:v>474</c:v>
                </c:pt>
                <c:pt idx="3">
                  <c:v>426</c:v>
                </c:pt>
                <c:pt idx="4">
                  <c:v>99</c:v>
                </c:pt>
                <c:pt idx="5">
                  <c:v>77</c:v>
                </c:pt>
                <c:pt idx="6">
                  <c:v>694</c:v>
                </c:pt>
                <c:pt idx="7">
                  <c:v>651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9F-4711-836A-2B7B51EAEC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(4–5★)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минут</c:v>
                </c:pt>
                <c:pt idx="1">
                  <c:v>ждал</c:v>
                </c:pt>
                <c:pt idx="2">
                  <c:v>час</c:v>
                </c:pt>
                <c:pt idx="3">
                  <c:v>долго</c:v>
                </c:pt>
                <c:pt idx="4">
                  <c:v>очередь</c:v>
                </c:pt>
                <c:pt idx="5">
                  <c:v>ожидание</c:v>
                </c:pt>
                <c:pt idx="6">
                  <c:v>заказ</c:v>
                </c:pt>
                <c:pt idx="7">
                  <c:v>принесли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395</c:v>
                </c:pt>
                <c:pt idx="1">
                  <c:v>167</c:v>
                </c:pt>
                <c:pt idx="2">
                  <c:v>246</c:v>
                </c:pt>
                <c:pt idx="3">
                  <c:v>472</c:v>
                </c:pt>
                <c:pt idx="4">
                  <c:v>203</c:v>
                </c:pt>
                <c:pt idx="5">
                  <c:v>147</c:v>
                </c:pt>
                <c:pt idx="6">
                  <c:v>655</c:v>
                </c:pt>
                <c:pt idx="7">
                  <c:v>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9F-4711-836A-2B7B51EAEC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68.24999999999989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Отзывы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Зима</c:v>
                </c:pt>
                <c:pt idx="1">
                  <c:v>Весна</c:v>
                </c:pt>
                <c:pt idx="2">
                  <c:v>Лето</c:v>
                </c:pt>
                <c:pt idx="3">
                  <c:v>Осень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6587</c:v>
                </c:pt>
                <c:pt idx="1">
                  <c:v>6860</c:v>
                </c:pt>
                <c:pt idx="2">
                  <c:v>10685</c:v>
                </c:pt>
                <c:pt idx="3">
                  <c:v>8993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52-4AB7-A019-53AF54860D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822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%</c:v>
                </c:pt>
              </c:strCache>
            </c:strRef>
          </c:tx>
          <c:spPr>
            <a:ln w="25400" cap="flat">
              <a:solidFill>
                <a:srgbClr val="B91C1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Зима</c:v>
                </c:pt>
                <c:pt idx="1">
                  <c:v>Весна</c:v>
                </c:pt>
                <c:pt idx="2">
                  <c:v>Лето</c:v>
                </c:pt>
                <c:pt idx="3">
                  <c:v>Осень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9.4</c:v>
                </c:pt>
                <c:pt idx="1">
                  <c:v>10.29</c:v>
                </c:pt>
                <c:pt idx="2">
                  <c:v>9.84</c:v>
                </c:pt>
                <c:pt idx="3">
                  <c:v>8.33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2B-47BA-B8F9-8BBB1F8716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.405999999999997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Питашка и СУП</c:v>
                </c:pt>
                <c:pt idx="1">
                  <c:v>Tatar by Tubatay</c:v>
                </c:pt>
                <c:pt idx="2">
                  <c:v>Лёд</c:v>
                </c:pt>
                <c:pt idx="3">
                  <c:v>Супра</c:v>
                </c:pt>
                <c:pt idx="4">
                  <c:v>Тюбетей Дейли</c:v>
                </c:pt>
                <c:pt idx="5">
                  <c:v>Поминальный зал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4.8148150000000003</c:v>
                </c:pt>
                <c:pt idx="1">
                  <c:v>4.8366670000000003</c:v>
                </c:pt>
                <c:pt idx="2">
                  <c:v>4.873494</c:v>
                </c:pt>
                <c:pt idx="3">
                  <c:v>4.9004149999999997</c:v>
                </c:pt>
                <c:pt idx="4">
                  <c:v>4.9083329999999998</c:v>
                </c:pt>
                <c:pt idx="5">
                  <c:v>4.9351149999999997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07-4FC9-80D5-2D82C2730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По Чесноку</c:v>
                </c:pt>
                <c:pt idx="1">
                  <c:v>Гранатовый сад</c:v>
                </c:pt>
                <c:pt idx="2">
                  <c:v>Hot Pot</c:v>
                </c:pt>
                <c:pt idx="3">
                  <c:v>Маки</c:v>
                </c:pt>
                <c:pt idx="4">
                  <c:v>Тимерхан</c:v>
                </c:pt>
                <c:pt idx="5">
                  <c:v>Пушечный двор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3.9583330000000001</c:v>
                </c:pt>
                <c:pt idx="1">
                  <c:v>3.9244599999999998</c:v>
                </c:pt>
                <c:pt idx="2">
                  <c:v>3.8616670000000002</c:v>
                </c:pt>
                <c:pt idx="3">
                  <c:v>3.851667</c:v>
                </c:pt>
                <c:pt idx="4">
                  <c:v>3.4932889999999999</c:v>
                </c:pt>
                <c:pt idx="5">
                  <c:v>3.2831329999999999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30-4664-84E6-E2B08E6F33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85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</a:t>
            </a:r>
            <a:r>
              <a:rPr lang="en-US"/>
              <a:t>
– </a:t>
            </a:r>
            <a:r>
              <a:rPr lang="en-US" dirty="0"/>
              <a:t>/mnt/data/reviews.csv</a:t>
            </a:r>
            <a:r>
              <a:rPr lang="en-US"/>
              <a:t>
– </a:t>
            </a:r>
            <a:r>
              <a:rPr lang="en-US" dirty="0"/>
              <a:t>/mnt/data/lemma_stats.csv</a:t>
            </a:r>
            <a:r>
              <a:rPr lang="en-US"/>
              <a:t>
– </a:t>
            </a:r>
            <a:r>
              <a:rPr lang="en-US" dirty="0"/>
              <a:t>/mnt/data/season_lemma_stats.csv</a:t>
            </a:r>
            <a:r>
              <a:rPr lang="en-US"/>
              <a:t>
– </a:t>
            </a:r>
            <a:r>
              <a:rPr lang="en-US" dirty="0"/>
              <a:t>/mnt/data/season_lemma_stats_total.csv</a:t>
            </a:r>
            <a:r>
              <a:rPr lang="en-US"/>
              <a:t>
– </a:t>
            </a:r>
            <a:r>
              <a:rPr lang="en-US" dirty="0"/>
              <a:t>/mnt/data/org_dim.csv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</a:t>
            </a:r>
            <a:r>
              <a:rPr lang="en-US"/>
              <a:t>
– </a:t>
            </a:r>
            <a:r>
              <a:rPr lang="en-US" dirty="0"/>
              <a:t>/mnt/data/reviews.csv (распределение оценок, сезонность, период, авторы)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80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</a:t>
            </a:r>
            <a:r>
              <a:rPr lang="en-US"/>
              <a:t>
– </a:t>
            </a:r>
            <a:r>
              <a:rPr lang="en-US" dirty="0"/>
              <a:t>/mnt/data/reviews.csv (распределение оценок, сезонность, период, авторы)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11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</a:t>
            </a:r>
            <a:r>
              <a:rPr lang="en-US"/>
              <a:t>
– </a:t>
            </a:r>
            <a:r>
              <a:rPr lang="en-US" dirty="0"/>
              <a:t>/mnt/data/lemma_stats.csv (частоты лемм; доли high/low)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</a:t>
            </a:r>
            <a:r>
              <a:rPr lang="en-US"/>
              <a:t>
– </a:t>
            </a:r>
            <a:r>
              <a:rPr lang="en-US" dirty="0"/>
              <a:t>/mnt/data/lemma_stats.csv (частоты лемм; доли high/low)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60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</a:t>
            </a:r>
            <a:r>
              <a:rPr lang="en-US"/>
              <a:t>
– </a:t>
            </a:r>
            <a:r>
              <a:rPr lang="en-US" dirty="0"/>
              <a:t>/mnt/data/lemma_stats.csv (share_high/share_low по леммам; фильтр total_count&gt;=200)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</a:t>
            </a:r>
            <a:r>
              <a:rPr lang="en-US"/>
              <a:t>
– </a:t>
            </a:r>
            <a:r>
              <a:rPr lang="en-US" dirty="0"/>
              <a:t>/mnt/data/lemma_stats.csv (share_low/share_high; фильтр total_count&gt;=200)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</a:t>
            </a:r>
            <a:r>
              <a:rPr lang="en-US"/>
              <a:t>
– </a:t>
            </a:r>
            <a:r>
              <a:rPr lang="en-US" dirty="0"/>
              <a:t>/mnt/data/lemma_stats.csv (count_low/count_high по леммам «минут/ждал/час/…»)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</a:t>
            </a:r>
            <a:r>
              <a:rPr lang="en-US"/>
              <a:t>
– </a:t>
            </a:r>
            <a:r>
              <a:rPr lang="en-US" dirty="0"/>
              <a:t>/mnt/data/reviews.csv (объём отзывов и доля low по сезонам)</a:t>
            </a:r>
            <a:r>
              <a:rPr lang="en-US"/>
              <a:t>
– </a:t>
            </a:r>
            <a:r>
              <a:rPr lang="en-US" dirty="0"/>
              <a:t>/mnt/data/season_lemma_stats_total.csv </a:t>
            </a:r>
            <a:r>
              <a:rPr lang="en-US"/>
              <a:t>(over–index </a:t>
            </a:r>
            <a:r>
              <a:rPr lang="en-US" dirty="0"/>
              <a:t>по сезонам)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</a:t>
            </a:r>
            <a:r>
              <a:rPr lang="en-US"/>
              <a:t>
– </a:t>
            </a:r>
            <a:r>
              <a:rPr lang="en-US" dirty="0"/>
              <a:t>/mnt/data/season_lemma_stats.csv (cnt по сезонам и rating_group)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</a:t>
            </a:r>
            <a:r>
              <a:rPr lang="en-US"/>
              <a:t>
– </a:t>
            </a:r>
            <a:r>
              <a:rPr lang="en-US" dirty="0"/>
              <a:t>/mnt/data/org_dim.csv (avg_rating, n_reviews; фильтр n_reviews&gt;=100)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70255" y="1097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u-RU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нализ ключевых слов
в отзывах ресторанов Казани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научиться собирать и анализировать текстовые данные (NLP) на примере отзывов Яндекс Карт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27432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32688" y="379476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Отзывов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4014216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33 125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03320" y="3703320"/>
            <a:ext cx="27432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904488" y="379476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Заведений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04488" y="4014216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75120" y="3703320"/>
            <a:ext cx="27432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76288" y="379476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Авторов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76288" y="4014216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28 709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526280"/>
            <a:ext cx="62179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32688" y="4617720"/>
            <a:ext cx="5815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4837176"/>
            <a:ext cx="5815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2016–10–11 – 2025–12–31</a:t>
            </a:r>
            <a:endParaRPr lang="en-US" sz="1400" dirty="0"/>
          </a:p>
        </p:txBody>
      </p:sp>
      <p:sp>
        <p:nvSpPr>
          <p:cNvPr id="17" name="Rounded Rectangle 16"/>
          <p:cNvSpPr/>
          <p:nvPr/>
        </p:nvSpPr>
        <p:spPr>
          <a:xfrm>
            <a:off x="731520" y="5367528"/>
            <a:ext cx="8686800" cy="12618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1E6D1A-C6D4-411B-8A4A-F225B0054792}"/>
              </a:ext>
            </a:extLst>
          </p:cNvPr>
          <p:cNvSpPr txBox="1"/>
          <p:nvPr/>
        </p:nvSpPr>
        <p:spPr>
          <a:xfrm>
            <a:off x="932688" y="5366377"/>
            <a:ext cx="84856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: </a:t>
            </a:r>
            <a:endParaRPr lang="ru-RU" dirty="0"/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lang="ru-RU" dirty="0"/>
              <a:t>1. Воеводин Александр(капитан): сбор данных, первоначальная обработка/</a:t>
            </a:r>
            <a:r>
              <a:rPr lang="ru-RU" dirty="0" err="1"/>
              <a:t>парсинг</a:t>
            </a:r>
            <a:r>
              <a:rPr lang="ru-RU" dirty="0"/>
              <a:t>.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lang="ru-RU" dirty="0"/>
              <a:t>2. </a:t>
            </a:r>
            <a:r>
              <a:rPr lang="ru-RU" dirty="0" err="1"/>
              <a:t>Капаров</a:t>
            </a:r>
            <a:r>
              <a:rPr lang="ru-RU" dirty="0"/>
              <a:t> Игорь: Реализация структуры данных, приведение полученных данных к ней.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lang="ru-RU" dirty="0"/>
              <a:t>3. Багиров Мурад: Определение и подсчёт метрик, их анализ и </a:t>
            </a:r>
            <a:r>
              <a:rPr lang="ru-RU" dirty="0" err="1"/>
              <a:t>визуализирование</a:t>
            </a:r>
            <a:r>
              <a:rPr lang="ru-RU" dirty="0"/>
              <a:t>.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lang="ru-RU" dirty="0"/>
              <a:t>4. Пинаев Лев: Подготовка отчётов и презентаций, фиксирование всех этапов, подведение итогов.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Цели и задачи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1184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6256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Цель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03528"/>
            <a:ext cx="10454640" cy="610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 err="1"/>
              <a:t>Собрать</a:t>
            </a:r>
            <a:r>
              <a:rPr sz="1600" dirty="0"/>
              <a:t> </a:t>
            </a:r>
            <a:r>
              <a:rPr sz="1600" dirty="0" err="1"/>
              <a:t>отзывы</a:t>
            </a:r>
            <a:r>
              <a:rPr sz="1600" dirty="0"/>
              <a:t> с </a:t>
            </a:r>
            <a:r>
              <a:rPr sz="1600" dirty="0" err="1"/>
              <a:t>Яндекс</a:t>
            </a:r>
            <a:r>
              <a:rPr sz="1600" dirty="0"/>
              <a:t> </a:t>
            </a:r>
            <a:r>
              <a:rPr sz="1600" dirty="0" err="1"/>
              <a:t>Карт</a:t>
            </a:r>
            <a:r>
              <a:rPr sz="1600" dirty="0"/>
              <a:t> и </a:t>
            </a:r>
            <a:r>
              <a:rPr sz="1600" dirty="0" err="1"/>
              <a:t>проанализировать</a:t>
            </a:r>
            <a:r>
              <a:rPr sz="1600" dirty="0"/>
              <a:t> </a:t>
            </a:r>
            <a:r>
              <a:rPr sz="1600" dirty="0" err="1"/>
              <a:t>частоту</a:t>
            </a:r>
            <a:r>
              <a:rPr sz="1600" dirty="0"/>
              <a:t> </a:t>
            </a:r>
            <a:r>
              <a:rPr sz="1600" dirty="0" err="1"/>
              <a:t>ключевых</a:t>
            </a:r>
            <a:r>
              <a:rPr sz="1600" dirty="0"/>
              <a:t> </a:t>
            </a:r>
            <a:r>
              <a:rPr sz="1600" dirty="0" err="1"/>
              <a:t>слов</a:t>
            </a:r>
            <a:r>
              <a:rPr sz="1600" dirty="0"/>
              <a:t> (</a:t>
            </a:r>
            <a:r>
              <a:rPr sz="1600" dirty="0" err="1"/>
              <a:t>лемм</a:t>
            </a:r>
            <a:r>
              <a:rPr sz="1600" dirty="0"/>
              <a:t>),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 err="1"/>
              <a:t>чтобы</a:t>
            </a:r>
            <a:r>
              <a:rPr sz="1600" dirty="0"/>
              <a:t> </a:t>
            </a:r>
            <a:r>
              <a:rPr sz="1600" dirty="0" err="1"/>
              <a:t>выявить</a:t>
            </a:r>
            <a:r>
              <a:rPr sz="1600" dirty="0"/>
              <a:t> </a:t>
            </a:r>
            <a:r>
              <a:rPr sz="1600" dirty="0" err="1"/>
              <a:t>драйверы</a:t>
            </a:r>
            <a:r>
              <a:rPr sz="1600" dirty="0"/>
              <a:t> </a:t>
            </a:r>
            <a:r>
              <a:rPr sz="1600" dirty="0" err="1"/>
              <a:t>удовлетворённости</a:t>
            </a:r>
            <a:r>
              <a:rPr sz="1600" dirty="0"/>
              <a:t> и </a:t>
            </a:r>
            <a:r>
              <a:rPr sz="1600" dirty="0" err="1"/>
              <a:t>причины</a:t>
            </a:r>
            <a:r>
              <a:rPr sz="1600" dirty="0"/>
              <a:t> </a:t>
            </a:r>
            <a:r>
              <a:rPr sz="1600" dirty="0" err="1"/>
              <a:t>негатива</a:t>
            </a:r>
            <a:r>
              <a:rPr sz="16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26898"/>
            <a:ext cx="8210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Задачи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527" y="2893090"/>
            <a:ext cx="1045464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1) </a:t>
            </a:r>
            <a:r>
              <a:rPr sz="1600" dirty="0" err="1"/>
              <a:t>Скрапинг</a:t>
            </a:r>
            <a:r>
              <a:rPr sz="1600" dirty="0"/>
              <a:t> </a:t>
            </a:r>
            <a:r>
              <a:rPr sz="1600" dirty="0" err="1"/>
              <a:t>отзывовпо</a:t>
            </a:r>
            <a:r>
              <a:rPr sz="1600" dirty="0"/>
              <a:t> </a:t>
            </a:r>
            <a:r>
              <a:rPr sz="1600" dirty="0" err="1"/>
              <a:t>списку</a:t>
            </a:r>
            <a:r>
              <a:rPr sz="1600" dirty="0"/>
              <a:t> </a:t>
            </a:r>
            <a:r>
              <a:rPr sz="1600" dirty="0" err="1"/>
              <a:t>заведений</a:t>
            </a:r>
            <a:r>
              <a:rPr sz="1600" dirty="0"/>
              <a:t> (Playwright)</a:t>
            </a:r>
            <a:r>
              <a:rPr lang="ru-RU" sz="1600" dirty="0"/>
              <a:t>–&gt;</a:t>
            </a:r>
            <a:r>
              <a:rPr sz="1600" dirty="0"/>
              <a:t>JSONL.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2) </a:t>
            </a:r>
            <a:r>
              <a:rPr sz="1600" dirty="0" err="1"/>
              <a:t>Очистка</a:t>
            </a:r>
            <a:r>
              <a:rPr sz="1600" dirty="0"/>
              <a:t> </a:t>
            </a:r>
            <a:r>
              <a:rPr sz="1600" dirty="0" err="1"/>
              <a:t>текста</a:t>
            </a:r>
            <a:r>
              <a:rPr sz="1600" dirty="0"/>
              <a:t>, </a:t>
            </a:r>
            <a:r>
              <a:rPr sz="1600" dirty="0" err="1"/>
              <a:t>токенизация</a:t>
            </a:r>
            <a:r>
              <a:rPr sz="1600" dirty="0"/>
              <a:t>, </a:t>
            </a:r>
            <a:r>
              <a:rPr sz="1600" dirty="0" err="1"/>
              <a:t>лемматизация</a:t>
            </a:r>
            <a:r>
              <a:rPr lang="ru-RU" sz="1600" dirty="0"/>
              <a:t>–&gt;</a:t>
            </a:r>
            <a:r>
              <a:rPr sz="1600" dirty="0" err="1"/>
              <a:t>таблица</a:t>
            </a:r>
            <a:r>
              <a:rPr sz="1600" dirty="0"/>
              <a:t> </a:t>
            </a:r>
            <a:r>
              <a:rPr sz="1600" dirty="0" err="1"/>
              <a:t>токенов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3) </a:t>
            </a:r>
            <a:r>
              <a:rPr sz="1600" dirty="0" err="1"/>
              <a:t>Подсчёт</a:t>
            </a:r>
            <a:r>
              <a:rPr sz="1600" dirty="0"/>
              <a:t> </a:t>
            </a:r>
            <a:r>
              <a:rPr sz="1600" dirty="0" err="1"/>
              <a:t>частот</a:t>
            </a:r>
            <a:r>
              <a:rPr sz="1600" dirty="0"/>
              <a:t> </a:t>
            </a:r>
            <a:r>
              <a:rPr lang="ru-RU" sz="1600" dirty="0"/>
              <a:t>лемм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4) </a:t>
            </a:r>
            <a:r>
              <a:rPr sz="1600" dirty="0" err="1"/>
              <a:t>Анализ</a:t>
            </a:r>
            <a:r>
              <a:rPr sz="1600" dirty="0"/>
              <a:t> </a:t>
            </a:r>
            <a:r>
              <a:rPr lang="ru-RU" sz="1600" dirty="0"/>
              <a:t>и сравнение</a:t>
            </a:r>
            <a:r>
              <a:rPr sz="1600" dirty="0"/>
              <a:t> </a:t>
            </a:r>
            <a:r>
              <a:rPr lang="ru-RU" sz="1600" dirty="0"/>
              <a:t>отзывов</a:t>
            </a:r>
            <a:endParaRPr sz="1600" dirty="0"/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5) </a:t>
            </a:r>
            <a:r>
              <a:rPr sz="1600" dirty="0" err="1"/>
              <a:t>Формулировка</a:t>
            </a:r>
            <a:r>
              <a:rPr sz="1600" dirty="0"/>
              <a:t> </a:t>
            </a:r>
            <a:r>
              <a:rPr sz="1600" dirty="0" err="1"/>
              <a:t>выводов</a:t>
            </a:r>
            <a:r>
              <a:rPr sz="1600" dirty="0"/>
              <a:t> и </a:t>
            </a:r>
            <a:r>
              <a:rPr sz="1600" dirty="0" err="1"/>
              <a:t>практических</a:t>
            </a:r>
            <a:r>
              <a:rPr sz="1600" dirty="0"/>
              <a:t> </a:t>
            </a:r>
            <a:r>
              <a:rPr sz="1600" dirty="0" err="1"/>
              <a:t>рекомендаций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0856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 err="1">
                <a:solidFill>
                  <a:srgbClr val="FFFFFF"/>
                </a:solidFill>
                <a:latin typeface="Calibri"/>
              </a:rPr>
              <a:t>Сбор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данных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: Playwright</a:t>
            </a:r>
            <a:r>
              <a:rPr lang="ru-RU" sz="2000" b="1" dirty="0">
                <a:solidFill>
                  <a:srgbClr val="FFFFFF"/>
                </a:solidFill>
                <a:latin typeface="Calibri"/>
              </a:rPr>
              <a:t>–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скрейпер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1184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4008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Как</a:t>
            </a:r>
            <a:r>
              <a:rPr sz="16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Calibri"/>
              </a:rPr>
              <a:t>собирали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03528"/>
            <a:ext cx="1045464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Вход</a:t>
            </a:r>
            <a:r>
              <a:rPr sz="1600" dirty="0"/>
              <a:t>: </a:t>
            </a:r>
            <a:r>
              <a:rPr sz="1600" dirty="0" err="1"/>
              <a:t>список</a:t>
            </a:r>
            <a:r>
              <a:rPr sz="1600" dirty="0"/>
              <a:t> URL </a:t>
            </a:r>
            <a:r>
              <a:rPr sz="1600" dirty="0" err="1"/>
              <a:t>страниц</a:t>
            </a:r>
            <a:r>
              <a:rPr sz="1600" dirty="0"/>
              <a:t> </a:t>
            </a:r>
            <a:r>
              <a:rPr sz="1600" dirty="0" err="1"/>
              <a:t>отзывов</a:t>
            </a:r>
            <a:r>
              <a:rPr sz="1600" dirty="0"/>
              <a:t> </a:t>
            </a:r>
            <a:r>
              <a:rPr sz="1600" dirty="0" err="1"/>
              <a:t>заведений</a:t>
            </a:r>
            <a:r>
              <a:rPr sz="1600" dirty="0"/>
              <a:t> (urls.txt).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Автоматизация</a:t>
            </a:r>
            <a:r>
              <a:rPr sz="1600" dirty="0"/>
              <a:t> </a:t>
            </a:r>
            <a:r>
              <a:rPr sz="1600" dirty="0" err="1"/>
              <a:t>браузера</a:t>
            </a:r>
            <a:r>
              <a:rPr sz="1600" dirty="0"/>
              <a:t>: Playwright (headful/ headless), </a:t>
            </a:r>
            <a:r>
              <a:rPr sz="1600" dirty="0" err="1"/>
              <a:t>скролл</a:t>
            </a:r>
            <a:r>
              <a:rPr sz="1600" dirty="0"/>
              <a:t> </a:t>
            </a:r>
            <a:r>
              <a:rPr sz="1600" dirty="0" err="1"/>
              <a:t>до</a:t>
            </a:r>
            <a:r>
              <a:rPr sz="1600" dirty="0"/>
              <a:t> </a:t>
            </a:r>
            <a:r>
              <a:rPr lang="ru-RU" sz="1600" dirty="0"/>
              <a:t>–</a:t>
            </a:r>
            <a:r>
              <a:rPr sz="1600" dirty="0"/>
              <a:t>max</a:t>
            </a:r>
            <a:r>
              <a:rPr lang="ru-RU" sz="1600" dirty="0"/>
              <a:t>–</a:t>
            </a:r>
            <a:r>
              <a:rPr sz="1600" dirty="0"/>
              <a:t>reviews </a:t>
            </a:r>
            <a:r>
              <a:rPr sz="1600" dirty="0" err="1"/>
              <a:t>на</a:t>
            </a:r>
            <a:r>
              <a:rPr sz="1600" dirty="0"/>
              <a:t> </a:t>
            </a:r>
            <a:r>
              <a:rPr sz="1600" dirty="0" err="1"/>
              <a:t>заведение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Дедупликация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ключу</a:t>
            </a:r>
            <a:r>
              <a:rPr sz="1600" dirty="0"/>
              <a:t> </a:t>
            </a:r>
            <a:r>
              <a:rPr sz="1600" dirty="0" err="1"/>
              <a:t>отзыва</a:t>
            </a:r>
            <a:r>
              <a:rPr sz="1600" dirty="0"/>
              <a:t> </a:t>
            </a:r>
            <a:r>
              <a:rPr sz="1600" dirty="0" err="1"/>
              <a:t>при</a:t>
            </a:r>
            <a:r>
              <a:rPr sz="1600" dirty="0"/>
              <a:t> </a:t>
            </a:r>
            <a:r>
              <a:rPr sz="1600" dirty="0" err="1"/>
              <a:t>перезапуске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Обработка</a:t>
            </a:r>
            <a:r>
              <a:rPr sz="1600" dirty="0"/>
              <a:t> CAPTCHA: </a:t>
            </a:r>
            <a:r>
              <a:rPr sz="1600" dirty="0" err="1"/>
              <a:t>пауза</a:t>
            </a:r>
            <a:r>
              <a:rPr sz="1600" dirty="0"/>
              <a:t> и </a:t>
            </a:r>
            <a:r>
              <a:rPr sz="1600" dirty="0" err="1"/>
              <a:t>ручное</a:t>
            </a:r>
            <a:r>
              <a:rPr sz="1600" dirty="0"/>
              <a:t> </a:t>
            </a:r>
            <a:r>
              <a:rPr sz="1600" dirty="0" err="1"/>
              <a:t>подтверждение</a:t>
            </a:r>
            <a:r>
              <a:rPr sz="1600" dirty="0"/>
              <a:t> в headful </a:t>
            </a:r>
            <a:r>
              <a:rPr sz="1600" dirty="0" err="1"/>
              <a:t>режиме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Выход</a:t>
            </a:r>
            <a:r>
              <a:rPr sz="1600" dirty="0"/>
              <a:t>: JSONL (1 </a:t>
            </a:r>
            <a:r>
              <a:rPr sz="1600" dirty="0" err="1"/>
              <a:t>строка</a:t>
            </a:r>
            <a:r>
              <a:rPr sz="1600" dirty="0"/>
              <a:t> = 1 </a:t>
            </a:r>
            <a:r>
              <a:rPr sz="1600" dirty="0" err="1"/>
              <a:t>отзыв</a:t>
            </a:r>
            <a:r>
              <a:rPr sz="1600" dirty="0"/>
              <a:t>)</a:t>
            </a:r>
            <a:r>
              <a:rPr lang="ru-RU" sz="1600" dirty="0"/>
              <a:t>–&gt;</a:t>
            </a:r>
            <a:r>
              <a:rPr sz="1600" dirty="0" err="1"/>
              <a:t>дальнейшее</a:t>
            </a:r>
            <a:r>
              <a:rPr sz="1600" dirty="0"/>
              <a:t> </a:t>
            </a:r>
            <a:r>
              <a:rPr sz="1600" dirty="0" err="1"/>
              <a:t>преобразование</a:t>
            </a:r>
            <a:r>
              <a:rPr sz="1600" dirty="0"/>
              <a:t> в CSV.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564128"/>
            <a:ext cx="104546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5680" y="3665728"/>
            <a:ext cx="1020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0F172A"/>
                </a:solidFill>
                <a:latin typeface="Consolas"/>
              </a:rPr>
              <a:t>python Scraping/scraper_for_reviews.py </a:t>
            </a:r>
            <a:r>
              <a:rPr lang="ru-RU" sz="1600" dirty="0">
                <a:solidFill>
                  <a:srgbClr val="0F172A"/>
                </a:solidFill>
                <a:latin typeface="Consolas"/>
              </a:rPr>
              <a:t>––</a:t>
            </a:r>
            <a:r>
              <a:rPr sz="1600" dirty="0">
                <a:solidFill>
                  <a:srgbClr val="0F172A"/>
                </a:solidFill>
                <a:latin typeface="Consolas"/>
              </a:rPr>
              <a:t>headful </a:t>
            </a:r>
            <a:r>
              <a:rPr lang="ru-RU" sz="1600" dirty="0">
                <a:solidFill>
                  <a:srgbClr val="0F172A"/>
                </a:solidFill>
                <a:latin typeface="Consolas"/>
              </a:rPr>
              <a:t>––</a:t>
            </a:r>
            <a:r>
              <a:rPr sz="1600" dirty="0">
                <a:solidFill>
                  <a:srgbClr val="0F172A"/>
                </a:solidFill>
                <a:latin typeface="Consolas"/>
              </a:rPr>
              <a:t>block</a:t>
            </a:r>
            <a:r>
              <a:rPr lang="ru-RU" sz="1600" dirty="0">
                <a:solidFill>
                  <a:srgbClr val="0F172A"/>
                </a:solidFill>
                <a:latin typeface="Consolas"/>
              </a:rPr>
              <a:t>–</a:t>
            </a:r>
            <a:r>
              <a:rPr sz="1600" dirty="0">
                <a:solidFill>
                  <a:srgbClr val="0F172A"/>
                </a:solidFill>
                <a:latin typeface="Consolas"/>
              </a:rPr>
              <a:t>resources \
  </a:t>
            </a:r>
            <a:r>
              <a:rPr lang="ru-RU" sz="1600" dirty="0">
                <a:solidFill>
                  <a:srgbClr val="0F172A"/>
                </a:solidFill>
                <a:latin typeface="Consolas"/>
              </a:rPr>
              <a:t>––</a:t>
            </a:r>
            <a:r>
              <a:rPr sz="1600" dirty="0" err="1">
                <a:solidFill>
                  <a:srgbClr val="0F172A"/>
                </a:solidFill>
                <a:latin typeface="Consolas"/>
              </a:rPr>
              <a:t>urls</a:t>
            </a:r>
            <a:r>
              <a:rPr sz="1600" dirty="0">
                <a:solidFill>
                  <a:srgbClr val="0F172A"/>
                </a:solidFill>
                <a:latin typeface="Consolas"/>
              </a:rPr>
              <a:t> Scraping/urls.txt </a:t>
            </a:r>
            <a:r>
              <a:rPr lang="ru-RU" sz="1600" dirty="0">
                <a:solidFill>
                  <a:srgbClr val="0F172A"/>
                </a:solidFill>
                <a:latin typeface="Consolas"/>
              </a:rPr>
              <a:t>––</a:t>
            </a:r>
            <a:r>
              <a:rPr sz="1600" dirty="0">
                <a:solidFill>
                  <a:srgbClr val="0F172A"/>
                </a:solidFill>
                <a:latin typeface="Consolas"/>
              </a:rPr>
              <a:t>out Scraping/</a:t>
            </a:r>
            <a:r>
              <a:rPr sz="1600" dirty="0" err="1">
                <a:solidFill>
                  <a:srgbClr val="0F172A"/>
                </a:solidFill>
                <a:latin typeface="Consolas"/>
              </a:rPr>
              <a:t>all_reviews.jsonl</a:t>
            </a:r>
            <a:r>
              <a:rPr sz="1600" dirty="0">
                <a:solidFill>
                  <a:srgbClr val="0F172A"/>
                </a:solidFill>
                <a:latin typeface="Consolas"/>
              </a:rPr>
              <a:t> </a:t>
            </a:r>
            <a:r>
              <a:rPr lang="ru-RU" sz="1600" dirty="0">
                <a:solidFill>
                  <a:srgbClr val="0F172A"/>
                </a:solidFill>
                <a:latin typeface="Consolas"/>
              </a:rPr>
              <a:t>––</a:t>
            </a:r>
            <a:r>
              <a:rPr sz="1600" dirty="0">
                <a:solidFill>
                  <a:srgbClr val="0F172A"/>
                </a:solidFill>
                <a:latin typeface="Consolas"/>
              </a:rPr>
              <a:t>max</a:t>
            </a:r>
            <a:r>
              <a:rPr lang="ru-RU" sz="1600" dirty="0">
                <a:solidFill>
                  <a:srgbClr val="0F172A"/>
                </a:solidFill>
                <a:latin typeface="Consolas"/>
              </a:rPr>
              <a:t>–</a:t>
            </a:r>
            <a:r>
              <a:rPr sz="1600" dirty="0">
                <a:solidFill>
                  <a:srgbClr val="0F172A"/>
                </a:solidFill>
                <a:latin typeface="Consolas"/>
              </a:rPr>
              <a:t>reviews 600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Данные и структура датасета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1184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r_kaz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33291"/>
            <a:ext cx="11002975" cy="1620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5599" y="5182417"/>
            <a:ext cx="73808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ER</a:t>
            </a:r>
            <a:r>
              <a:rPr lang="ru-RU" dirty="0"/>
              <a:t>–</a:t>
            </a:r>
            <a:r>
              <a:rPr dirty="0" err="1"/>
              <a:t>диаграмма</a:t>
            </a:r>
            <a:r>
              <a:rPr dirty="0"/>
              <a:t>: </a:t>
            </a:r>
            <a:r>
              <a:rPr dirty="0" err="1"/>
              <a:t>org_dim</a:t>
            </a:r>
            <a:r>
              <a:rPr lang="ru-RU" dirty="0"/>
              <a:t>–&gt;</a:t>
            </a:r>
            <a:r>
              <a:rPr dirty="0"/>
              <a:t>reviews</a:t>
            </a:r>
            <a:r>
              <a:rPr lang="ru-RU" dirty="0"/>
              <a:t>–&gt;</a:t>
            </a:r>
            <a:r>
              <a:rPr dirty="0" err="1"/>
              <a:t>review_tokens</a:t>
            </a:r>
            <a:r>
              <a:rPr dirty="0"/>
              <a:t>; </a:t>
            </a:r>
            <a:r>
              <a:rPr dirty="0" err="1"/>
              <a:t>агрегаты</a:t>
            </a:r>
            <a:r>
              <a:rPr dirty="0"/>
              <a:t> </a:t>
            </a:r>
            <a:r>
              <a:rPr dirty="0" err="1"/>
              <a:t>lemma_stats</a:t>
            </a:r>
            <a:r>
              <a:rPr dirty="0"/>
              <a:t> и </a:t>
            </a:r>
            <a:r>
              <a:rPr dirty="0" err="1"/>
              <a:t>сезонные</a:t>
            </a:r>
            <a:r>
              <a:rPr dirty="0"/>
              <a:t> </a:t>
            </a:r>
            <a:r>
              <a:rPr dirty="0" err="1"/>
              <a:t>таблицы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Предобработка и методика анализа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1184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216610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Предобработка</a:t>
            </a:r>
            <a:r>
              <a:rPr sz="16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Calibri"/>
              </a:rPr>
              <a:t>текста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03528"/>
            <a:ext cx="507492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review_text_raw</a:t>
            </a:r>
            <a:r>
              <a:rPr sz="1600" dirty="0"/>
              <a:t> </a:t>
            </a:r>
            <a:r>
              <a:rPr lang="ru-RU" sz="1600" dirty="0"/>
              <a:t>–</a:t>
            </a:r>
            <a:r>
              <a:rPr lang="en-US" sz="1600" dirty="0"/>
              <a:t>&gt; </a:t>
            </a:r>
            <a:r>
              <a:rPr sz="1600" dirty="0" err="1"/>
              <a:t>review_text_clean</a:t>
            </a:r>
            <a:r>
              <a:rPr sz="1600" dirty="0"/>
              <a:t>: </a:t>
            </a:r>
            <a:r>
              <a:rPr sz="1600" dirty="0" err="1"/>
              <a:t>нижний</a:t>
            </a:r>
            <a:r>
              <a:rPr sz="1600" dirty="0"/>
              <a:t> </a:t>
            </a:r>
            <a:r>
              <a:rPr sz="1600" dirty="0" err="1"/>
              <a:t>регистр</a:t>
            </a:r>
            <a:r>
              <a:rPr sz="1600" dirty="0"/>
              <a:t>, </a:t>
            </a:r>
            <a:r>
              <a:rPr sz="1600" dirty="0" err="1"/>
              <a:t>пунктуация</a:t>
            </a:r>
            <a:r>
              <a:rPr sz="1600" dirty="0"/>
              <a:t>, </a:t>
            </a:r>
            <a:r>
              <a:rPr sz="1600" dirty="0" err="1"/>
              <a:t>стоп</a:t>
            </a:r>
            <a:r>
              <a:rPr lang="ru-RU" sz="1600" dirty="0"/>
              <a:t>–</a:t>
            </a:r>
            <a:r>
              <a:rPr sz="1600" dirty="0" err="1"/>
              <a:t>слова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Токенизация</a:t>
            </a:r>
            <a:r>
              <a:rPr sz="1600" dirty="0"/>
              <a:t>: </a:t>
            </a:r>
            <a:r>
              <a:rPr sz="1600" dirty="0" err="1"/>
              <a:t>разбиение</a:t>
            </a:r>
            <a:r>
              <a:rPr sz="1600" dirty="0"/>
              <a:t> </a:t>
            </a:r>
            <a:r>
              <a:rPr sz="1600" dirty="0" err="1"/>
              <a:t>на</a:t>
            </a:r>
            <a:r>
              <a:rPr sz="1600" dirty="0"/>
              <a:t> </a:t>
            </a:r>
            <a:r>
              <a:rPr sz="1600" dirty="0" err="1"/>
              <a:t>слова</a:t>
            </a:r>
            <a:r>
              <a:rPr sz="1600" dirty="0"/>
              <a:t> и </a:t>
            </a:r>
            <a:r>
              <a:rPr sz="1600" dirty="0" err="1"/>
              <a:t>позиции</a:t>
            </a:r>
            <a:r>
              <a:rPr sz="1600" dirty="0"/>
              <a:t> (</a:t>
            </a:r>
            <a:r>
              <a:rPr sz="1600" dirty="0" err="1"/>
              <a:t>token_position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Лемматизация</a:t>
            </a:r>
            <a:r>
              <a:rPr sz="1600" dirty="0"/>
              <a:t>: </a:t>
            </a:r>
            <a:r>
              <a:rPr sz="1600" dirty="0" err="1"/>
              <a:t>приведение</a:t>
            </a:r>
            <a:r>
              <a:rPr sz="1600" dirty="0"/>
              <a:t> к </a:t>
            </a:r>
            <a:r>
              <a:rPr sz="1600" dirty="0" err="1"/>
              <a:t>основе</a:t>
            </a:r>
            <a:r>
              <a:rPr sz="1600" dirty="0"/>
              <a:t> (lemma) </a:t>
            </a:r>
            <a:r>
              <a:rPr sz="1600" dirty="0" err="1"/>
              <a:t>для</a:t>
            </a:r>
            <a:r>
              <a:rPr sz="1600" dirty="0"/>
              <a:t> </a:t>
            </a:r>
            <a:r>
              <a:rPr sz="1600" dirty="0" err="1"/>
              <a:t>устойчивых</a:t>
            </a:r>
            <a:r>
              <a:rPr sz="1600" dirty="0"/>
              <a:t> </a:t>
            </a:r>
            <a:r>
              <a:rPr sz="1600" dirty="0" err="1"/>
              <a:t>частот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Признаки</a:t>
            </a:r>
            <a:r>
              <a:rPr sz="1600" dirty="0"/>
              <a:t>: </a:t>
            </a:r>
            <a:r>
              <a:rPr sz="1600" dirty="0" err="1"/>
              <a:t>длина</a:t>
            </a:r>
            <a:r>
              <a:rPr sz="1600" dirty="0"/>
              <a:t> </a:t>
            </a:r>
            <a:r>
              <a:rPr sz="1600" dirty="0" err="1"/>
              <a:t>отзыва</a:t>
            </a:r>
            <a:r>
              <a:rPr sz="1600" dirty="0"/>
              <a:t> (</a:t>
            </a:r>
            <a:r>
              <a:rPr sz="1600" dirty="0" err="1"/>
              <a:t>review_length</a:t>
            </a:r>
            <a:r>
              <a:rPr sz="1600" dirty="0"/>
              <a:t>), </a:t>
            </a:r>
            <a:r>
              <a:rPr sz="1600" dirty="0" err="1"/>
              <a:t>сезон</a:t>
            </a:r>
            <a:r>
              <a:rPr sz="1600" dirty="0"/>
              <a:t>/</a:t>
            </a:r>
            <a:r>
              <a:rPr sz="1600" dirty="0" err="1"/>
              <a:t>месяц</a:t>
            </a:r>
            <a:r>
              <a:rPr sz="1600" dirty="0"/>
              <a:t>, </a:t>
            </a:r>
            <a:r>
              <a:rPr sz="1600" dirty="0" err="1"/>
              <a:t>группа</a:t>
            </a:r>
            <a:r>
              <a:rPr sz="1600" dirty="0"/>
              <a:t> </a:t>
            </a:r>
            <a:r>
              <a:rPr sz="1600" dirty="0" err="1"/>
              <a:t>оценки</a:t>
            </a:r>
            <a:r>
              <a:rPr sz="16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1024128"/>
            <a:ext cx="21350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Метрики</a:t>
            </a:r>
            <a:r>
              <a:rPr sz="1600" b="1" dirty="0">
                <a:solidFill>
                  <a:srgbClr val="0F172A"/>
                </a:solidFill>
                <a:latin typeface="Calibri"/>
              </a:rPr>
              <a:t> и </a:t>
            </a:r>
            <a:r>
              <a:rPr sz="1600" b="1" dirty="0" err="1">
                <a:solidFill>
                  <a:srgbClr val="0F172A"/>
                </a:solidFill>
                <a:latin typeface="Calibri"/>
              </a:rPr>
              <a:t>сравнения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48400" y="1303528"/>
            <a:ext cx="507492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Частоты</a:t>
            </a:r>
            <a:r>
              <a:rPr sz="1600" dirty="0"/>
              <a:t> </a:t>
            </a:r>
            <a:r>
              <a:rPr sz="1600" dirty="0" err="1"/>
              <a:t>лемм</a:t>
            </a:r>
            <a:r>
              <a:rPr sz="1600" dirty="0"/>
              <a:t>: </a:t>
            </a:r>
            <a:r>
              <a:rPr sz="1600" dirty="0" err="1"/>
              <a:t>total_count</a:t>
            </a:r>
            <a:r>
              <a:rPr sz="1600" dirty="0"/>
              <a:t> и top</a:t>
            </a:r>
            <a:r>
              <a:rPr lang="ru-RU" sz="1600" dirty="0"/>
              <a:t>–</a:t>
            </a:r>
            <a:r>
              <a:rPr sz="1600" dirty="0"/>
              <a:t>N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корпусу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Контраст</a:t>
            </a:r>
            <a:r>
              <a:rPr sz="1600" dirty="0"/>
              <a:t>: </a:t>
            </a:r>
            <a:r>
              <a:rPr sz="1600" dirty="0" err="1"/>
              <a:t>доли</a:t>
            </a:r>
            <a:r>
              <a:rPr sz="1600" dirty="0"/>
              <a:t> </a:t>
            </a:r>
            <a:r>
              <a:rPr sz="1600" dirty="0" err="1"/>
              <a:t>употреблений</a:t>
            </a:r>
            <a:r>
              <a:rPr sz="1600" dirty="0"/>
              <a:t> </a:t>
            </a:r>
            <a:r>
              <a:rPr sz="1600" dirty="0" err="1"/>
              <a:t>share_low</a:t>
            </a:r>
            <a:r>
              <a:rPr sz="1600" dirty="0"/>
              <a:t> vs </a:t>
            </a:r>
            <a:r>
              <a:rPr sz="1600" dirty="0" err="1"/>
              <a:t>share_high</a:t>
            </a:r>
            <a:r>
              <a:rPr sz="1600" dirty="0"/>
              <a:t> (min </a:t>
            </a:r>
            <a:r>
              <a:rPr sz="1600" dirty="0" err="1"/>
              <a:t>порог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упоминаниям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Сезонность</a:t>
            </a:r>
            <a:r>
              <a:rPr sz="1600" dirty="0"/>
              <a:t>: over</a:t>
            </a:r>
            <a:r>
              <a:rPr lang="ru-RU" sz="1600" dirty="0"/>
              <a:t>–</a:t>
            </a:r>
            <a:r>
              <a:rPr sz="1600" dirty="0"/>
              <a:t>index </a:t>
            </a:r>
            <a:r>
              <a:rPr sz="1600" dirty="0" err="1"/>
              <a:t>xN</a:t>
            </a:r>
            <a:r>
              <a:rPr sz="1600" dirty="0"/>
              <a:t> = (</a:t>
            </a:r>
            <a:r>
              <a:rPr sz="1600" dirty="0" err="1"/>
              <a:t>доля</a:t>
            </a:r>
            <a:r>
              <a:rPr sz="1600" dirty="0"/>
              <a:t> в </a:t>
            </a:r>
            <a:r>
              <a:rPr sz="1600" dirty="0" err="1"/>
              <a:t>сезоне</a:t>
            </a:r>
            <a:r>
              <a:rPr sz="1600" dirty="0"/>
              <a:t>) / (</a:t>
            </a:r>
            <a:r>
              <a:rPr sz="1600" dirty="0" err="1"/>
              <a:t>доля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году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Уровень</a:t>
            </a:r>
            <a:r>
              <a:rPr sz="1600" dirty="0"/>
              <a:t> </a:t>
            </a:r>
            <a:r>
              <a:rPr sz="1600" dirty="0" err="1"/>
              <a:t>заведений</a:t>
            </a:r>
            <a:r>
              <a:rPr sz="1600" dirty="0"/>
              <a:t>: </a:t>
            </a:r>
            <a:r>
              <a:rPr sz="1600" dirty="0" err="1"/>
              <a:t>avg_rating</a:t>
            </a:r>
            <a:r>
              <a:rPr sz="1600" dirty="0"/>
              <a:t>, </a:t>
            </a:r>
            <a:r>
              <a:rPr sz="1600" dirty="0" err="1"/>
              <a:t>доля</a:t>
            </a:r>
            <a:r>
              <a:rPr sz="1600" dirty="0"/>
              <a:t> 1</a:t>
            </a:r>
            <a:r>
              <a:rPr lang="ru-RU" sz="1600" dirty="0"/>
              <a:t>–</a:t>
            </a:r>
            <a:r>
              <a:rPr sz="1600" dirty="0"/>
              <a:t>2★, 5★, </a:t>
            </a:r>
            <a:r>
              <a:rPr sz="1600" dirty="0" err="1"/>
              <a:t>коротких</a:t>
            </a:r>
            <a:r>
              <a:rPr sz="1600" dirty="0"/>
              <a:t>/</a:t>
            </a:r>
            <a:r>
              <a:rPr sz="1600" dirty="0" err="1"/>
              <a:t>дублей</a:t>
            </a:r>
            <a:r>
              <a:rPr sz="1600" dirty="0"/>
              <a:t> и </a:t>
            </a:r>
            <a:r>
              <a:rPr sz="1600" dirty="0" err="1"/>
              <a:t>т.д</a:t>
            </a:r>
            <a:r>
              <a:rPr sz="1600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53128"/>
            <a:ext cx="1045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0F172A"/>
                </a:solidFill>
                <a:latin typeface="Calibri"/>
              </a:rPr>
              <a:t>Далее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идут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результаты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по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частотам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и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контрасту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лемм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(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еда</a:t>
            </a:r>
            <a:r>
              <a:rPr sz="1600" dirty="0">
                <a:solidFill>
                  <a:srgbClr val="0F172A"/>
                </a:solidFill>
                <a:latin typeface="Calibri"/>
              </a:rPr>
              <a:t>/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сервис</a:t>
            </a:r>
            <a:r>
              <a:rPr sz="1600" dirty="0">
                <a:solidFill>
                  <a:srgbClr val="0F172A"/>
                </a:solidFill>
                <a:latin typeface="Calibri"/>
              </a:rPr>
              <a:t>/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атмосфера</a:t>
            </a:r>
            <a:r>
              <a:rPr sz="1600" dirty="0">
                <a:solidFill>
                  <a:srgbClr val="0F172A"/>
                </a:solidFill>
                <a:latin typeface="Calibri"/>
              </a:rPr>
              <a:t>),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болевые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точки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ожидания</a:t>
            </a:r>
            <a:r>
              <a:rPr sz="1600" dirty="0">
                <a:solidFill>
                  <a:srgbClr val="0F172A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сезонные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паттерны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и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бенчмарк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заведений</a:t>
            </a:r>
            <a:r>
              <a:rPr sz="1600" dirty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объём, структура и оценки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0332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отзывов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280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33 125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Город: Казань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86868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840480" y="10332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Уникальных авторов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1280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28 709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84048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медиана 14 слов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86868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12280" y="10332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Заведений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12280" y="1280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1228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 и рестораны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72600" y="868680"/>
            <a:ext cx="2148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601200" y="103327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0" y="1280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60120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2016–10–11…2025–12–31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560320"/>
            <a:ext cx="6400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8680" y="27249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оценок (шт.)</a:t>
            </a:r>
            <a:endParaRPr lang="en-US" sz="13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868680" y="3090672"/>
          <a:ext cx="5943600" cy="3127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7269480" y="2560320"/>
            <a:ext cx="4279392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498080" y="2743200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 по структуре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498080" y="3108960"/>
            <a:ext cx="38221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(4–5★): 85,5%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(1–2★): 9,4%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(3★): 5,1%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сравнение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лемм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только low vs high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868680" y="5846995"/>
            <a:ext cx="285292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Отзывы по оценкам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04488" y="5846995"/>
            <a:ext cx="285292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Токены по оценкам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904487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Динамика публикаций</a:t>
            </a:r>
          </a:p>
        </p:txBody>
      </p:sp>
    </p:spTree>
    <p:extLst>
      <p:ext uri="{BB962C8B-B14F-4D97-AF65-F5344CB8AC3E}">
        <p14:creationId xmlns:p14="http://schemas.microsoft.com/office/powerpoint/2010/main" val="2305828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объём, структура и оценки</a:t>
            </a:r>
            <a:endParaRPr lang="en-US" sz="200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8BE8F67-DA39-46A1-A077-592755D71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7" y="974939"/>
            <a:ext cx="11887200" cy="54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40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пишут чаще всего: темы опыта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65836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03327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Упоминания по темам (сумма по ключевым леммам)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68680" y="1417320"/>
          <a:ext cx="612648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868680"/>
            <a:ext cx="409651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680960" y="1024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–10 лемм по частоте (все отзывы)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0" y="14173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вкусн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20 519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9 457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блюд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7 575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6 965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заведен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6 790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6 594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приятн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6 502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кухн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6 228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5 739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5 517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86116" y="4165600"/>
            <a:ext cx="3657600" cy="2133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909560" y="4305300"/>
            <a:ext cx="3291840" cy="381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09560" y="4613910"/>
            <a:ext cx="3291840" cy="15996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0F172A"/>
                </a:solidFill>
                <a:latin typeface="Calibri"/>
              </a:rPr>
              <a:t>В отзывах доминируют «еда + сервис + атмосфера». Скорость/</a:t>
            </a:r>
            <a:r>
              <a:rPr lang="en-US" sz="1400" dirty="0" err="1">
                <a:solidFill>
                  <a:srgbClr val="0F172A"/>
                </a:solidFill>
                <a:latin typeface="Calibri"/>
              </a:rPr>
              <a:t>очередь</a:t>
            </a:r>
            <a:r>
              <a:rPr lang="en-US" sz="1400" dirty="0">
                <a:solidFill>
                  <a:srgbClr val="0F172A"/>
                </a:solidFill>
                <a:latin typeface="Calibri"/>
              </a:rPr>
              <a:t>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400" dirty="0">
                <a:solidFill>
                  <a:srgbClr val="0F172A"/>
                </a:solidFill>
                <a:latin typeface="Calibri"/>
              </a:rPr>
              <a:t> меньше по объёму, но чаще всплывает в </a:t>
            </a:r>
            <a:r>
              <a:rPr lang="en-US" sz="1400" dirty="0" err="1">
                <a:solidFill>
                  <a:srgbClr val="0F172A"/>
                </a:solidFill>
                <a:latin typeface="Calibri"/>
              </a:rPr>
              <a:t>негативе</a:t>
            </a:r>
            <a:r>
              <a:rPr lang="en-US" sz="1400" dirty="0">
                <a:solidFill>
                  <a:srgbClr val="0F172A"/>
                </a:solidFill>
                <a:latin typeface="Calibri"/>
              </a:rPr>
              <a:t>.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dirty="0" err="1"/>
              <a:t>Дополнительно</a:t>
            </a:r>
            <a:r>
              <a:rPr dirty="0"/>
              <a:t>: </a:t>
            </a:r>
            <a:r>
              <a:rPr dirty="0" err="1"/>
              <a:t>топ</a:t>
            </a:r>
            <a:r>
              <a:rPr lang="en-US" dirty="0"/>
              <a:t> </a:t>
            </a:r>
            <a:r>
              <a:rPr dirty="0"/>
              <a:t>10 </a:t>
            </a:r>
            <a:r>
              <a:rPr dirty="0" err="1"/>
              <a:t>лемм</a:t>
            </a:r>
            <a:r>
              <a:rPr dirty="0"/>
              <a:t> = 13,9%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употреблений</a:t>
            </a:r>
            <a:r>
              <a:rPr dirty="0"/>
              <a:t>; «</a:t>
            </a:r>
            <a:r>
              <a:rPr dirty="0" err="1"/>
              <a:t>вкусн</a:t>
            </a:r>
            <a:r>
              <a:rPr dirty="0"/>
              <a:t>» </a:t>
            </a:r>
            <a:r>
              <a:rPr dirty="0" err="1"/>
              <a:t>встречается</a:t>
            </a:r>
            <a:r>
              <a:rPr dirty="0"/>
              <a:t> в 56,6% </a:t>
            </a:r>
            <a:r>
              <a:rPr dirty="0" err="1"/>
              <a:t>отзывов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пишут чаще всего: темы опыта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757954" y="1089660"/>
            <a:ext cx="2162774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9872472" y="106400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лемм </a:t>
            </a: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</a:t>
            </a:r>
            <a:r>
              <a:rPr lang="ru-RU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872472" y="143383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вкусн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20 519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9 457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блюд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7 575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6 965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заведен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6 790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6 594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приятн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6 502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кухн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6 228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5 739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5 517</a:t>
            </a:r>
            <a:endParaRPr lang="en-US" sz="12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0ED4F75-02F8-4314-9467-ED9D2748B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46150"/>
            <a:ext cx="8382000" cy="572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39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Позитив: что чаще встречается в 4–5★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56235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02412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</a:t>
            </a:r>
            <a:r>
              <a:rPr lang="ru-RU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</a:t>
            </a: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максимальной долей в high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618488"/>
            <a:ext cx="5166360" cy="4233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просторн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771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нежн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разнообразн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836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похва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высш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877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542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великолепн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недор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бомб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уп.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868680"/>
            <a:ext cx="5056632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05156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усиливает лояльность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1417320"/>
            <a:ext cx="459943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Комфортная обстановка и пространство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Разнообразие меню и «идеально приготовлено»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Дружелюбный персонал и внимание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Чисто и быстро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Негатив: что чаще встречается в 1–2★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56235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02412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</a:t>
            </a:r>
            <a:r>
              <a:rPr lang="ru-RU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максимальной </a:t>
            </a:r>
            <a:r>
              <a:rPr lang="en-US" sz="1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долей</a:t>
            </a: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</a:t>
            </a:r>
            <a:r>
              <a:rPr lang="ru-RU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5166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отвратительн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–294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ужасн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536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невкусн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грязн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204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ушл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ждал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r>
              <a:rPr lang="en-US" sz="16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разочарова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ru-RU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 уп.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868680"/>
            <a:ext cx="5056632" cy="5486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Text 6"/>
          <p:cNvSpPr/>
          <p:nvPr/>
        </p:nvSpPr>
        <p:spPr>
          <a:xfrm>
            <a:off x="6720840" y="1024128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Чаще всего за негативом стоят: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1417320"/>
            <a:ext cx="45994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Качество блюда (невкусно, холодно)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Чистота (грязно)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Ожидание/очередь (ждал, минут, час)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Коммуникация и реакция персонала (ответ)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Итоговое разочарование (разочарова)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Болевые точки: ожидание и заказы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0332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Упоминания в low vs high (</a:t>
            </a: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леммам</a:t>
            </a:r>
            <a:r>
              <a:rPr lang="ru-RU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ru-RU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симптомам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68680" y="1417320"/>
          <a:ext cx="1051560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943600"/>
            <a:ext cx="10972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6062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Интерпретация: слова про время («минут», «ждал», «час») намного чаще встречаются в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негативе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это прямой сигнал к управлению очередью и ожиданием (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слоты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информирование, скорость кухни/выдачи).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Сезонность: что меняется в восприятии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5349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0332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отзывов по сезонам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68680" y="1325880"/>
          <a:ext cx="46634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886200"/>
            <a:ext cx="5349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53440" y="596990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low (1–2★) по сезонам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3190140139"/>
              </p:ext>
            </p:extLst>
          </p:nvPr>
        </p:nvGraphicFramePr>
        <p:xfrm>
          <a:off x="541020" y="4032504"/>
          <a:ext cx="466344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6263640" y="4219302"/>
            <a:ext cx="5285232" cy="213577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6492240" y="4380943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Слова, которые «перерастут» в конкретный сезон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77000" y="5212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Зима: новогодн (x3,90), корпорат (x3,40), программ (x1,66)</a:t>
            </a:r>
            <a:endParaRPr lang="ru-RU" sz="12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Весна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калья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(x1,11),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(x1,11),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(x1,10)</a:t>
            </a:r>
            <a:br>
              <a:rPr lang="ru-RU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веранд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(x2,40),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(x2,38),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террас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(x2,21)</a:t>
            </a:r>
            <a:endParaRPr lang="en-US" sz="1200" dirty="0"/>
          </a:p>
          <a:p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(x1,51),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(x1,40),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любл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(x1,35)</a:t>
            </a:r>
            <a:endParaRPr lang="en-US" sz="1200" dirty="0"/>
          </a:p>
          <a:p>
            <a:br>
              <a:rPr lang="ru-RU" sz="1200" dirty="0"/>
            </a:b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92240" y="5715000"/>
            <a:ext cx="4846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6629400" y="58155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 = насколько слово встречается чаще, чем в среднем по году (over–index).</a:t>
            </a:r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868680" y="5225996"/>
            <a:ext cx="46177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Распределение отзывов по сезонам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44A3342-984E-4079-96AE-01D56AE01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180" y="639352"/>
            <a:ext cx="4027960" cy="35666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Сезоны × качество: примеры лемм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low по леммам в сезоне (чем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выше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тем чаще слово встречается в негативе)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Лемма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234440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92040" y="1234440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Весна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234440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72600" y="1234440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801368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уютн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80136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0,9% (912)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80136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1,1% (931)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180136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1,7% (1 281)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72600" y="180136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1,3% (1 242)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368296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террас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368296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0,0% (19)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368296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4,9% (41)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2368296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12,2% (139)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72600" y="2368296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1,9% (53)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935224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2935224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5,8% (138)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935224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11,1% (153)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2935224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8,6% (267)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72600" y="2935224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5,7% (212)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502152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грязн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3502152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66,7% (51)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502152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64,0% (50)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3502152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57,3% (103)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72600" y="3502152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63,6% (55)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06908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51760" y="4069080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54,2% (118)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4069080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53,3% (105)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4069080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54,5% (145)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72600" y="4069080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51,9% (129)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636008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разочарова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51760" y="4636008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54,5% (55)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4636008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52,7% (55)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0" y="4636008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55,4% (112)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72600" y="4636008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47,9% (71)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5202936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ждал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651760" y="520293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60,7% (112)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92040" y="520293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56,7% (141)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32320" y="520293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59,5% (227)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372600" y="520293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50,7% (134)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6355080"/>
            <a:ext cx="10972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642823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Сигнал: «грязн» и «холодн» почти </a:t>
            </a:r>
            <a:r>
              <a:rPr lang="en-US" sz="11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низко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1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склонны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«террас» – почти всегда позитивна (особенно вне пика сезона).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 заведений (фильтр: ≥100 отзывов)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566928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0332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Лидеры по среднему рейтингу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68680" y="1325880"/>
          <a:ext cx="52120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868680"/>
            <a:ext cx="523951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0" y="1033272"/>
            <a:ext cx="4782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/>
              <a:t>Анти-лидеры по среднему рейтингу</a:t>
            </a:r>
            <a:endParaRPr lang="en-US" sz="1300" b="1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583680" y="1325880"/>
          <a:ext cx="4736592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6263640"/>
            <a:ext cx="1097280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63825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Лидеры: «Поминальный зал» (4,94; 262 отзывов) и «Тюбетей Дейли» (4,91; 600).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Ограничения и следующие шаги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1184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3660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Ограничения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03528"/>
            <a:ext cx="1045464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Данные</a:t>
            </a:r>
            <a:r>
              <a:rPr sz="1600" dirty="0"/>
              <a:t> </a:t>
            </a:r>
            <a:r>
              <a:rPr lang="ru-RU" sz="1600" dirty="0"/>
              <a:t>–</a:t>
            </a:r>
            <a:r>
              <a:rPr sz="1600" dirty="0"/>
              <a:t> </a:t>
            </a:r>
            <a:r>
              <a:rPr sz="1600" dirty="0" err="1"/>
              <a:t>только</a:t>
            </a:r>
            <a:r>
              <a:rPr sz="1600" dirty="0"/>
              <a:t> </a:t>
            </a:r>
            <a:r>
              <a:rPr sz="1600" dirty="0" err="1"/>
              <a:t>публичные</a:t>
            </a:r>
            <a:r>
              <a:rPr sz="1600" dirty="0"/>
              <a:t> </a:t>
            </a:r>
            <a:r>
              <a:rPr sz="1600" dirty="0" err="1"/>
              <a:t>отзывы</a:t>
            </a:r>
            <a:r>
              <a:rPr sz="1600" dirty="0"/>
              <a:t> </a:t>
            </a:r>
            <a:r>
              <a:rPr sz="1600" dirty="0" err="1"/>
              <a:t>Яндекс</a:t>
            </a:r>
            <a:r>
              <a:rPr sz="1600" dirty="0"/>
              <a:t> </a:t>
            </a:r>
            <a:r>
              <a:rPr sz="1600" dirty="0" err="1"/>
              <a:t>Карт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выбранным</a:t>
            </a:r>
            <a:r>
              <a:rPr sz="1600" dirty="0"/>
              <a:t> </a:t>
            </a:r>
            <a:r>
              <a:rPr sz="1600" dirty="0" err="1"/>
              <a:t>заведениям</a:t>
            </a:r>
            <a:r>
              <a:rPr sz="1600" dirty="0"/>
              <a:t> (</a:t>
            </a:r>
            <a:r>
              <a:rPr sz="1600" dirty="0" err="1"/>
              <a:t>возможна</a:t>
            </a:r>
            <a:r>
              <a:rPr sz="1600" dirty="0"/>
              <a:t> </a:t>
            </a:r>
            <a:r>
              <a:rPr sz="1600" dirty="0" err="1"/>
              <a:t>смещённость</a:t>
            </a:r>
            <a:r>
              <a:rPr sz="1600" dirty="0"/>
              <a:t> </a:t>
            </a:r>
            <a:r>
              <a:rPr sz="1600" dirty="0" err="1"/>
              <a:t>выборки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Ключевые</a:t>
            </a:r>
            <a:r>
              <a:rPr sz="1600" dirty="0"/>
              <a:t> </a:t>
            </a:r>
            <a:r>
              <a:rPr sz="1600" dirty="0" err="1"/>
              <a:t>слова</a:t>
            </a:r>
            <a:r>
              <a:rPr sz="1600" dirty="0"/>
              <a:t> </a:t>
            </a:r>
            <a:r>
              <a:rPr sz="1600" dirty="0" err="1"/>
              <a:t>отражают</a:t>
            </a:r>
            <a:r>
              <a:rPr sz="1600" dirty="0"/>
              <a:t> </a:t>
            </a:r>
            <a:r>
              <a:rPr sz="1600" dirty="0" err="1"/>
              <a:t>частоту</a:t>
            </a:r>
            <a:r>
              <a:rPr sz="1600" dirty="0"/>
              <a:t>, </a:t>
            </a:r>
            <a:r>
              <a:rPr sz="1600" dirty="0" err="1"/>
              <a:t>но</a:t>
            </a:r>
            <a:r>
              <a:rPr sz="1600" dirty="0"/>
              <a:t> </a:t>
            </a:r>
            <a:r>
              <a:rPr sz="1600" dirty="0" err="1"/>
              <a:t>не</a:t>
            </a:r>
            <a:r>
              <a:rPr sz="1600" dirty="0"/>
              <a:t> </a:t>
            </a:r>
            <a:r>
              <a:rPr sz="1600" dirty="0" err="1"/>
              <a:t>всегда</a:t>
            </a:r>
            <a:r>
              <a:rPr sz="1600" dirty="0"/>
              <a:t> «</a:t>
            </a:r>
            <a:r>
              <a:rPr sz="1600" dirty="0" err="1"/>
              <a:t>важность</a:t>
            </a:r>
            <a:r>
              <a:rPr sz="1600" dirty="0"/>
              <a:t>» (</a:t>
            </a:r>
            <a:r>
              <a:rPr sz="1600" dirty="0" err="1"/>
              <a:t>нет</a:t>
            </a:r>
            <a:r>
              <a:rPr sz="1600" dirty="0"/>
              <a:t> </a:t>
            </a:r>
            <a:r>
              <a:rPr sz="1600" dirty="0" err="1"/>
              <a:t>тонального</a:t>
            </a:r>
            <a:r>
              <a:rPr sz="1600" dirty="0"/>
              <a:t> </a:t>
            </a:r>
            <a:r>
              <a:rPr sz="1600" dirty="0" err="1"/>
              <a:t>анализа</a:t>
            </a:r>
            <a:r>
              <a:rPr sz="1600" dirty="0"/>
              <a:t> </a:t>
            </a:r>
            <a:r>
              <a:rPr sz="1600" dirty="0" err="1"/>
              <a:t>фраз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Лемматизация</a:t>
            </a:r>
            <a:r>
              <a:rPr sz="1600" dirty="0"/>
              <a:t> </a:t>
            </a:r>
            <a:r>
              <a:rPr sz="1600" dirty="0" err="1"/>
              <a:t>упрощает</a:t>
            </a:r>
            <a:r>
              <a:rPr sz="1600" dirty="0"/>
              <a:t> </a:t>
            </a:r>
            <a:r>
              <a:rPr sz="1600" dirty="0" err="1"/>
              <a:t>язык</a:t>
            </a:r>
            <a:r>
              <a:rPr sz="1600" dirty="0"/>
              <a:t> и </a:t>
            </a:r>
            <a:r>
              <a:rPr sz="1600" dirty="0" err="1"/>
              <a:t>может</a:t>
            </a:r>
            <a:r>
              <a:rPr sz="1600" dirty="0"/>
              <a:t> </a:t>
            </a:r>
            <a:r>
              <a:rPr sz="1600" dirty="0" err="1"/>
              <a:t>терять</a:t>
            </a:r>
            <a:r>
              <a:rPr sz="1600" dirty="0"/>
              <a:t> </a:t>
            </a:r>
            <a:r>
              <a:rPr sz="1600" dirty="0" err="1"/>
              <a:t>нюансы</a:t>
            </a:r>
            <a:r>
              <a:rPr sz="1600" dirty="0"/>
              <a:t> (</a:t>
            </a:r>
            <a:r>
              <a:rPr sz="1600" dirty="0" err="1"/>
              <a:t>сарказм</a:t>
            </a:r>
            <a:r>
              <a:rPr sz="1600" dirty="0"/>
              <a:t>, </a:t>
            </a:r>
            <a:r>
              <a:rPr sz="1600" dirty="0" err="1"/>
              <a:t>контекст</a:t>
            </a:r>
            <a:r>
              <a:rPr sz="1600" dirty="0"/>
              <a:t>, </a:t>
            </a:r>
            <a:r>
              <a:rPr sz="1600" dirty="0" err="1"/>
              <a:t>отрицания</a:t>
            </a:r>
            <a:r>
              <a:rPr sz="1600" dirty="0"/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9128"/>
            <a:ext cx="20597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Calibri"/>
              </a:rPr>
              <a:t>можно</a:t>
            </a:r>
            <a:r>
              <a:rPr sz="16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Calibri"/>
              </a:rPr>
              <a:t>улучшить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3208528"/>
            <a:ext cx="1045464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1) </a:t>
            </a:r>
            <a:r>
              <a:rPr sz="1600" dirty="0" err="1"/>
              <a:t>Тематическое</a:t>
            </a:r>
            <a:r>
              <a:rPr sz="1600" dirty="0"/>
              <a:t> </a:t>
            </a:r>
            <a:r>
              <a:rPr sz="1600" dirty="0" err="1"/>
              <a:t>моделирование</a:t>
            </a:r>
            <a:r>
              <a:rPr sz="1600" dirty="0"/>
              <a:t> (LDA/</a:t>
            </a:r>
            <a:r>
              <a:rPr sz="1600" dirty="0" err="1"/>
              <a:t>BERTopic</a:t>
            </a:r>
            <a:r>
              <a:rPr sz="1600" dirty="0"/>
              <a:t>) </a:t>
            </a:r>
            <a:r>
              <a:rPr sz="1600" dirty="0" err="1"/>
              <a:t>для</a:t>
            </a:r>
            <a:r>
              <a:rPr sz="1600" dirty="0"/>
              <a:t> </a:t>
            </a:r>
            <a:r>
              <a:rPr sz="1600" dirty="0" err="1"/>
              <a:t>группировки</a:t>
            </a:r>
            <a:r>
              <a:rPr sz="1600" dirty="0"/>
              <a:t> </a:t>
            </a:r>
            <a:r>
              <a:rPr sz="1600" dirty="0" err="1"/>
              <a:t>тем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2) </a:t>
            </a:r>
            <a:r>
              <a:rPr sz="1600" dirty="0" err="1"/>
              <a:t>Оценка</a:t>
            </a:r>
            <a:r>
              <a:rPr sz="1600" dirty="0"/>
              <a:t> </a:t>
            </a:r>
            <a:r>
              <a:rPr sz="1600" dirty="0" err="1"/>
              <a:t>тональности</a:t>
            </a:r>
            <a:r>
              <a:rPr sz="1600" dirty="0"/>
              <a:t> </a:t>
            </a:r>
            <a:r>
              <a:rPr sz="1600" dirty="0" err="1"/>
              <a:t>на</a:t>
            </a:r>
            <a:r>
              <a:rPr sz="1600" dirty="0"/>
              <a:t> </a:t>
            </a:r>
            <a:r>
              <a:rPr sz="1600" dirty="0" err="1"/>
              <a:t>уровне</a:t>
            </a:r>
            <a:r>
              <a:rPr sz="1600" dirty="0"/>
              <a:t> </a:t>
            </a:r>
            <a:r>
              <a:rPr sz="1600" dirty="0" err="1"/>
              <a:t>предложений</a:t>
            </a:r>
            <a:r>
              <a:rPr sz="1600" dirty="0"/>
              <a:t> и </a:t>
            </a:r>
            <a:r>
              <a:rPr sz="1600" dirty="0" err="1"/>
              <a:t>аспектов</a:t>
            </a:r>
            <a:r>
              <a:rPr sz="1600" dirty="0"/>
              <a:t> (</a:t>
            </a:r>
            <a:r>
              <a:rPr sz="1600" dirty="0" err="1"/>
              <a:t>еда</a:t>
            </a:r>
            <a:r>
              <a:rPr sz="1600" dirty="0"/>
              <a:t>/</a:t>
            </a:r>
            <a:r>
              <a:rPr sz="1600" dirty="0" err="1"/>
              <a:t>сервис</a:t>
            </a:r>
            <a:r>
              <a:rPr sz="1600" dirty="0"/>
              <a:t>/</a:t>
            </a:r>
            <a:r>
              <a:rPr sz="1600" dirty="0" err="1"/>
              <a:t>цена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3) </a:t>
            </a:r>
            <a:r>
              <a:rPr sz="1600" dirty="0" err="1"/>
              <a:t>Динамика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годам</a:t>
            </a:r>
            <a:r>
              <a:rPr sz="1600" dirty="0"/>
              <a:t> и </a:t>
            </a:r>
            <a:r>
              <a:rPr sz="1600" dirty="0" err="1"/>
              <a:t>событиям</a:t>
            </a:r>
            <a:r>
              <a:rPr sz="1600" dirty="0"/>
              <a:t> (</a:t>
            </a:r>
            <a:r>
              <a:rPr sz="1600" dirty="0" err="1"/>
              <a:t>ремонты</a:t>
            </a:r>
            <a:r>
              <a:rPr sz="1600" dirty="0"/>
              <a:t>, </a:t>
            </a:r>
            <a:r>
              <a:rPr sz="1600" dirty="0" err="1"/>
              <a:t>смена</a:t>
            </a:r>
            <a:r>
              <a:rPr sz="1600" dirty="0"/>
              <a:t> </a:t>
            </a:r>
            <a:r>
              <a:rPr sz="1600" dirty="0" err="1"/>
              <a:t>меню</a:t>
            </a:r>
            <a:r>
              <a:rPr sz="1600" dirty="0"/>
              <a:t>, </a:t>
            </a:r>
            <a:r>
              <a:rPr sz="1600" dirty="0" err="1"/>
              <a:t>сезонные</a:t>
            </a:r>
            <a:r>
              <a:rPr sz="1600" dirty="0"/>
              <a:t> </a:t>
            </a:r>
            <a:r>
              <a:rPr sz="1600" dirty="0" err="1"/>
              <a:t>кампании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4) </a:t>
            </a:r>
            <a:r>
              <a:rPr sz="1600" dirty="0" err="1"/>
              <a:t>Дашборд</a:t>
            </a:r>
            <a:r>
              <a:rPr sz="1600" dirty="0"/>
              <a:t>: </a:t>
            </a:r>
            <a:r>
              <a:rPr sz="1600" dirty="0" err="1"/>
              <a:t>мониторинг</a:t>
            </a:r>
            <a:r>
              <a:rPr sz="1600" dirty="0"/>
              <a:t> </a:t>
            </a:r>
            <a:r>
              <a:rPr sz="1600" dirty="0" err="1"/>
              <a:t>триггеров</a:t>
            </a:r>
            <a:r>
              <a:rPr sz="1600" dirty="0"/>
              <a:t> </a:t>
            </a:r>
            <a:r>
              <a:rPr sz="1600" dirty="0" err="1"/>
              <a:t>негатива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каждому</a:t>
            </a:r>
            <a:r>
              <a:rPr sz="1600" dirty="0"/>
              <a:t> </a:t>
            </a:r>
            <a:r>
              <a:rPr sz="1600" dirty="0" err="1"/>
              <a:t>заведению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Итоговые выводы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11840" cy="5532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118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alibri"/>
              </a:defRPr>
            </a:pPr>
            <a:r>
              <a:rPr dirty="0" err="1"/>
              <a:t>Собрано</a:t>
            </a:r>
            <a:r>
              <a:rPr dirty="0"/>
              <a:t> 33 125 </a:t>
            </a:r>
            <a:r>
              <a:rPr dirty="0" err="1"/>
              <a:t>отзывов</a:t>
            </a:r>
            <a:r>
              <a:rPr dirty="0"/>
              <a:t> (100 </a:t>
            </a:r>
            <a:r>
              <a:rPr dirty="0" err="1"/>
              <a:t>заведений</a:t>
            </a:r>
            <a:r>
              <a:rPr dirty="0"/>
              <a:t>, 2016–2025) и </a:t>
            </a:r>
            <a:r>
              <a:rPr dirty="0" err="1"/>
              <a:t>построен</a:t>
            </a:r>
            <a:r>
              <a:rPr dirty="0"/>
              <a:t> </a:t>
            </a:r>
            <a:r>
              <a:rPr dirty="0" err="1"/>
              <a:t>связный</a:t>
            </a:r>
            <a:r>
              <a:rPr dirty="0"/>
              <a:t> </a:t>
            </a:r>
            <a:r>
              <a:rPr dirty="0" err="1"/>
              <a:t>датасет</a:t>
            </a:r>
            <a:r>
              <a:rPr dirty="0"/>
              <a:t> (reviews, tokens, </a:t>
            </a:r>
            <a:r>
              <a:rPr dirty="0" err="1"/>
              <a:t>агрегаты</a:t>
            </a:r>
            <a:r>
              <a:rPr dirty="0"/>
              <a:t>).</a:t>
            </a:r>
            <a:br>
              <a:rPr lang="en-US" dirty="0"/>
            </a:br>
            <a:endParaRPr dirty="0"/>
          </a:p>
          <a:p>
            <a:pPr>
              <a:defRPr sz="1600">
                <a:latin typeface="Calibri"/>
              </a:defRPr>
            </a:pPr>
            <a:r>
              <a:rPr dirty="0" err="1"/>
              <a:t>Контраст</a:t>
            </a:r>
            <a:r>
              <a:rPr dirty="0"/>
              <a:t> low vs high: 1–2★ = 9,4%, 4–5★ = 85,5% (3★ </a:t>
            </a:r>
            <a:r>
              <a:rPr dirty="0" err="1"/>
              <a:t>исключены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сравнения</a:t>
            </a:r>
            <a:r>
              <a:rPr dirty="0"/>
              <a:t>).</a:t>
            </a:r>
            <a:br>
              <a:rPr lang="en-US" dirty="0"/>
            </a:br>
            <a:endParaRPr dirty="0"/>
          </a:p>
          <a:p>
            <a:pPr>
              <a:defRPr sz="1600">
                <a:latin typeface="Calibri"/>
              </a:defRPr>
            </a:pPr>
            <a:r>
              <a:rPr dirty="0" err="1"/>
              <a:t>Главные</a:t>
            </a:r>
            <a:r>
              <a:rPr dirty="0"/>
              <a:t> </a:t>
            </a:r>
            <a:r>
              <a:rPr dirty="0" err="1"/>
              <a:t>темы</a:t>
            </a:r>
            <a:r>
              <a:rPr dirty="0"/>
              <a:t> </a:t>
            </a:r>
            <a:r>
              <a:rPr dirty="0" err="1"/>
              <a:t>отзывов</a:t>
            </a:r>
            <a:r>
              <a:rPr dirty="0"/>
              <a:t>: </a:t>
            </a:r>
            <a:r>
              <a:rPr dirty="0" err="1"/>
              <a:t>еда</a:t>
            </a:r>
            <a:r>
              <a:rPr dirty="0"/>
              <a:t>, </a:t>
            </a:r>
            <a:r>
              <a:rPr dirty="0" err="1"/>
              <a:t>сервис</a:t>
            </a:r>
            <a:r>
              <a:rPr dirty="0"/>
              <a:t>, </a:t>
            </a:r>
            <a:r>
              <a:rPr dirty="0" err="1"/>
              <a:t>атмосфера</a:t>
            </a:r>
            <a:r>
              <a:rPr dirty="0"/>
              <a:t>; «</a:t>
            </a:r>
            <a:r>
              <a:rPr dirty="0" err="1"/>
              <a:t>вкусн</a:t>
            </a:r>
            <a:r>
              <a:rPr dirty="0"/>
              <a:t>»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самый</a:t>
            </a:r>
            <a:r>
              <a:rPr dirty="0"/>
              <a:t> </a:t>
            </a:r>
            <a:r>
              <a:rPr dirty="0" err="1"/>
              <a:t>частый</a:t>
            </a:r>
            <a:r>
              <a:rPr dirty="0"/>
              <a:t> </a:t>
            </a:r>
            <a:r>
              <a:rPr dirty="0" err="1"/>
              <a:t>маркер</a:t>
            </a:r>
            <a:r>
              <a:rPr dirty="0"/>
              <a:t> (≈56,6% </a:t>
            </a:r>
            <a:r>
              <a:rPr dirty="0" err="1"/>
              <a:t>отзывов</a:t>
            </a:r>
            <a:r>
              <a:rPr dirty="0"/>
              <a:t>).</a:t>
            </a:r>
            <a:br>
              <a:rPr lang="en-US" dirty="0"/>
            </a:br>
            <a:endParaRPr dirty="0"/>
          </a:p>
          <a:p>
            <a:pPr>
              <a:defRPr sz="1600">
                <a:latin typeface="Calibri"/>
              </a:defRPr>
            </a:pPr>
            <a:r>
              <a:rPr dirty="0" err="1"/>
              <a:t>Триггеры</a:t>
            </a:r>
            <a:r>
              <a:rPr dirty="0"/>
              <a:t> </a:t>
            </a:r>
            <a:r>
              <a:rPr dirty="0" err="1"/>
              <a:t>негатива</a:t>
            </a:r>
            <a:r>
              <a:rPr dirty="0"/>
              <a:t>: «</a:t>
            </a:r>
            <a:r>
              <a:rPr dirty="0" err="1"/>
              <a:t>невкусн</a:t>
            </a:r>
            <a:r>
              <a:rPr dirty="0"/>
              <a:t>/</a:t>
            </a:r>
            <a:r>
              <a:rPr dirty="0" err="1"/>
              <a:t>отвратительн</a:t>
            </a:r>
            <a:r>
              <a:rPr dirty="0"/>
              <a:t>/</a:t>
            </a:r>
            <a:r>
              <a:rPr dirty="0" err="1"/>
              <a:t>ужасн</a:t>
            </a:r>
            <a:r>
              <a:rPr dirty="0"/>
              <a:t>», «</a:t>
            </a:r>
            <a:r>
              <a:rPr dirty="0" err="1"/>
              <a:t>грязн</a:t>
            </a:r>
            <a:r>
              <a:rPr dirty="0"/>
              <a:t>», </a:t>
            </a:r>
            <a:r>
              <a:rPr dirty="0" err="1"/>
              <a:t>ожидание</a:t>
            </a:r>
            <a:r>
              <a:rPr dirty="0"/>
              <a:t> («</a:t>
            </a:r>
            <a:r>
              <a:rPr dirty="0" err="1"/>
              <a:t>ждал</a:t>
            </a:r>
            <a:r>
              <a:rPr dirty="0"/>
              <a:t>/</a:t>
            </a:r>
            <a:r>
              <a:rPr dirty="0" err="1"/>
              <a:t>минут</a:t>
            </a:r>
            <a:r>
              <a:rPr dirty="0"/>
              <a:t>/</a:t>
            </a:r>
            <a:r>
              <a:rPr dirty="0" err="1"/>
              <a:t>час</a:t>
            </a:r>
            <a:r>
              <a:rPr dirty="0"/>
              <a:t>») и </a:t>
            </a:r>
            <a:r>
              <a:rPr dirty="0" err="1"/>
              <a:t>реакция</a:t>
            </a:r>
            <a:r>
              <a:rPr dirty="0"/>
              <a:t> </a:t>
            </a:r>
            <a:r>
              <a:rPr dirty="0" err="1"/>
              <a:t>персонала</a:t>
            </a:r>
            <a:r>
              <a:rPr dirty="0"/>
              <a:t>.</a:t>
            </a:r>
            <a:br>
              <a:rPr lang="en-US" dirty="0"/>
            </a:br>
            <a:endParaRPr dirty="0"/>
          </a:p>
          <a:p>
            <a:pPr>
              <a:defRPr sz="1600">
                <a:latin typeface="Calibri"/>
              </a:defRPr>
            </a:pPr>
            <a:r>
              <a:rPr dirty="0" err="1"/>
              <a:t>Сезонность</a:t>
            </a:r>
            <a:r>
              <a:rPr dirty="0"/>
              <a:t>: </a:t>
            </a:r>
            <a:r>
              <a:rPr dirty="0" err="1"/>
              <a:t>летом</a:t>
            </a:r>
            <a:r>
              <a:rPr dirty="0"/>
              <a:t> «</a:t>
            </a:r>
            <a:r>
              <a:rPr dirty="0" err="1"/>
              <a:t>веранда</a:t>
            </a:r>
            <a:r>
              <a:rPr dirty="0"/>
              <a:t>/</a:t>
            </a:r>
            <a:r>
              <a:rPr dirty="0" err="1"/>
              <a:t>терраса</a:t>
            </a:r>
            <a:r>
              <a:rPr dirty="0"/>
              <a:t>», </a:t>
            </a:r>
            <a:r>
              <a:rPr dirty="0" err="1"/>
              <a:t>зимой</a:t>
            </a:r>
            <a:r>
              <a:rPr dirty="0"/>
              <a:t> «</a:t>
            </a:r>
            <a:r>
              <a:rPr dirty="0" err="1"/>
              <a:t>новогодн</a:t>
            </a:r>
            <a:r>
              <a:rPr dirty="0"/>
              <a:t>/</a:t>
            </a:r>
            <a:r>
              <a:rPr dirty="0" err="1"/>
              <a:t>корпоратив</a:t>
            </a:r>
            <a:r>
              <a:rPr dirty="0"/>
              <a:t>»; </a:t>
            </a:r>
            <a:endParaRPr lang="ru-RU" dirty="0"/>
          </a:p>
          <a:p>
            <a:pPr>
              <a:defRPr sz="1600">
                <a:latin typeface="Calibri"/>
              </a:defRPr>
            </a:pPr>
            <a:endParaRPr lang="ru-RU" dirty="0"/>
          </a:p>
          <a:p>
            <a:pPr>
              <a:defRPr sz="1600">
                <a:latin typeface="Calibri"/>
              </a:defRPr>
            </a:pPr>
            <a:r>
              <a:rPr dirty="0"/>
              <a:t>«</a:t>
            </a:r>
            <a:r>
              <a:rPr dirty="0" err="1"/>
              <a:t>грязн</a:t>
            </a:r>
            <a:r>
              <a:rPr dirty="0"/>
              <a:t>» и «</a:t>
            </a:r>
            <a:r>
              <a:rPr dirty="0" err="1"/>
              <a:t>холодн</a:t>
            </a:r>
            <a:r>
              <a:rPr dirty="0"/>
              <a:t>» </a:t>
            </a:r>
            <a:r>
              <a:rPr dirty="0" err="1"/>
              <a:t>стабильно</a:t>
            </a:r>
            <a:r>
              <a:rPr dirty="0"/>
              <a:t> </a:t>
            </a:r>
            <a:r>
              <a:rPr dirty="0" err="1"/>
              <a:t>связаны</a:t>
            </a:r>
            <a:r>
              <a:rPr dirty="0"/>
              <a:t> с low.</a:t>
            </a:r>
            <a:endParaRPr lang="ru-RU" dirty="0"/>
          </a:p>
          <a:p>
            <a:pPr>
              <a:defRPr sz="1600">
                <a:latin typeface="Calibri"/>
              </a:defRPr>
            </a:pPr>
            <a:endParaRPr dirty="0"/>
          </a:p>
          <a:p>
            <a:pPr>
              <a:defRPr sz="1600">
                <a:latin typeface="Calibri"/>
              </a:defRPr>
            </a:pPr>
            <a:r>
              <a:rPr dirty="0" err="1"/>
              <a:t>Практика</a:t>
            </a:r>
            <a:r>
              <a:rPr dirty="0"/>
              <a:t>: </a:t>
            </a:r>
            <a:r>
              <a:rPr dirty="0" err="1"/>
              <a:t>измерять</a:t>
            </a:r>
            <a:r>
              <a:rPr dirty="0"/>
              <a:t> и </a:t>
            </a:r>
            <a:r>
              <a:rPr dirty="0" err="1"/>
              <a:t>снижать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ожидания</a:t>
            </a:r>
            <a:r>
              <a:rPr dirty="0"/>
              <a:t>, </a:t>
            </a:r>
            <a:r>
              <a:rPr dirty="0" err="1"/>
              <a:t>контролировать</a:t>
            </a:r>
            <a:r>
              <a:rPr dirty="0"/>
              <a:t> </a:t>
            </a: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блюд</a:t>
            </a:r>
            <a:r>
              <a:rPr dirty="0"/>
              <a:t> и </a:t>
            </a:r>
            <a:r>
              <a:rPr dirty="0" err="1"/>
              <a:t>чистоту</a:t>
            </a:r>
            <a:r>
              <a:rPr dirty="0"/>
              <a:t>, </a:t>
            </a:r>
            <a:r>
              <a:rPr dirty="0" err="1"/>
              <a:t>улучшать</a:t>
            </a:r>
            <a:r>
              <a:rPr dirty="0"/>
              <a:t> </a:t>
            </a:r>
            <a:r>
              <a:rPr dirty="0" err="1"/>
              <a:t>коммуникацию</a:t>
            </a:r>
            <a:r>
              <a:rPr dirty="0"/>
              <a:t> </a:t>
            </a:r>
            <a:r>
              <a:rPr dirty="0" err="1"/>
              <a:t>персонала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</TotalTime>
  <Words>2135</Words>
  <Application>Microsoft Office PowerPoint</Application>
  <PresentationFormat>Широкоэкранный</PresentationFormat>
  <Paragraphs>235</Paragraphs>
  <Slides>17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Text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ключевых слов — Казань</dc:title>
  <dc:subject>Ключевые слова в отзывах ресторанов Казани</dc:subject>
  <dc:creator>Проект</dc:creator>
  <cp:lastModifiedBy>Александр</cp:lastModifiedBy>
  <cp:revision>8</cp:revision>
  <dcterms:created xsi:type="dcterms:W3CDTF">2026-01-18T17:30:54Z</dcterms:created>
  <dcterms:modified xsi:type="dcterms:W3CDTF">2026-01-21T19:27:15Z</dcterms:modified>
</cp:coreProperties>
</file>