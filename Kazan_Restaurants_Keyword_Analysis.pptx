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0169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ru-RU" sz="3600" b="1" dirty="0"/>
              <a:t>А</a:t>
            </a:r>
            <a:r>
              <a:rPr sz="3600" b="1" dirty="0" err="1"/>
              <a:t>нализ</a:t>
            </a:r>
            <a:r>
              <a:rPr sz="3600" b="1" dirty="0"/>
              <a:t> </a:t>
            </a:r>
            <a:r>
              <a:rPr sz="3600" b="1" dirty="0" err="1"/>
              <a:t>ключевых</a:t>
            </a:r>
            <a:r>
              <a:rPr sz="3600" b="1" dirty="0"/>
              <a:t> </a:t>
            </a:r>
            <a:r>
              <a:rPr sz="3600" b="1" dirty="0" err="1"/>
              <a:t>слов</a:t>
            </a:r>
            <a:r>
              <a:rPr sz="3600" b="1" dirty="0"/>
              <a:t> в </a:t>
            </a:r>
            <a:r>
              <a:rPr sz="3600" b="1" dirty="0" err="1"/>
              <a:t>отзывах</a:t>
            </a:r>
            <a:r>
              <a:rPr sz="3600" b="1" dirty="0"/>
              <a:t> о </a:t>
            </a:r>
            <a:r>
              <a:rPr sz="3600" b="1" dirty="0" err="1"/>
              <a:t>ресторанах</a:t>
            </a:r>
            <a:r>
              <a:rPr sz="3600" b="1" dirty="0"/>
              <a:t> </a:t>
            </a:r>
            <a:r>
              <a:rPr sz="3600" b="1" dirty="0" err="1"/>
              <a:t>Казани</a:t>
            </a:r>
            <a:endParaRPr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/>
              <a:t>Источник: отзывы Яндекс Карт • Сбор данных (Playwright) → NLP‑предобработка → частотный анализ → сезонность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/>
            </a:pPr>
            <a:r>
              <a:t>Цель проекта — пройти полный цикл работы с данными: от веб‑скрейпинга до выводов и визуализаций.</a:t>
            </a:r>
          </a:p>
          <a:p>
            <a:pPr>
              <a:spcAft>
                <a:spcPts val="200"/>
              </a:spcAft>
              <a:defRPr sz="2000"/>
            </a:pPr>
            <a:r>
              <a:t>Фокус анализа: частота лемм (ключевых слов) и их связь с оценкой (low: 1–2, high: 4–5) и сезоном.</a:t>
            </a:r>
          </a:p>
          <a:p>
            <a:pPr>
              <a:spcAft>
                <a:spcPts val="200"/>
              </a:spcAft>
              <a:defRPr sz="2000"/>
            </a:pPr>
            <a:r>
              <a:t>Результат: набор датасетов + метрики + слайды с интерпретацией.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Kazan reviews keyword analysis • учебный проект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Контекст и исследовательские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/>
            </a:pPr>
            <a:r>
              <a:t>Почему это полезно:</a:t>
            </a:r>
          </a:p>
          <a:p>
            <a:pPr lvl="1">
              <a:spcAft>
                <a:spcPts val="200"/>
              </a:spcAft>
              <a:defRPr sz="1800"/>
            </a:pPr>
            <a:r>
              <a:t>Отзывы — главный источник обратной связи о кухне, сервисе, атмосфере и ожиданиях.</a:t>
            </a:r>
          </a:p>
          <a:p>
            <a:pPr lvl="1">
              <a:spcAft>
                <a:spcPts val="200"/>
              </a:spcAft>
              <a:defRPr sz="1800"/>
            </a:pPr>
            <a:r>
              <a:t>Частотный анализ быстро показывает “темы” и типовые триггеры негатива.</a:t>
            </a:r>
          </a:p>
          <a:p>
            <a:pPr lvl="1">
              <a:spcAft>
                <a:spcPts val="200"/>
              </a:spcAft>
              <a:defRPr sz="1800"/>
            </a:pPr>
            <a:r>
              <a:t>Сезонность помогает понять, какие темы всплывают летом/зимой (террасы, доставка, праздники и т.д.).</a:t>
            </a:r>
          </a:p>
          <a:p>
            <a:pPr>
              <a:spcAft>
                <a:spcPts val="200"/>
              </a:spcAft>
              <a:defRPr sz="1800"/>
            </a:pPr>
            <a:r>
              <a:t>Вопросы проекта:</a:t>
            </a:r>
          </a:p>
          <a:p>
            <a:pPr lvl="1">
              <a:spcAft>
                <a:spcPts val="200"/>
              </a:spcAft>
              <a:defRPr sz="1800"/>
            </a:pPr>
            <a:r>
              <a:t>Какие ключевые слова (леммы) наиболее частотны в отзывах по Казани?</a:t>
            </a:r>
          </a:p>
          <a:p>
            <a:pPr lvl="1">
              <a:spcAft>
                <a:spcPts val="200"/>
              </a:spcAft>
              <a:defRPr sz="1800"/>
            </a:pPr>
            <a:r>
              <a:t>Какие слова сильнее связаны с высокими и низкими оценками?</a:t>
            </a:r>
          </a:p>
          <a:p>
            <a:pPr lvl="1">
              <a:spcAft>
                <a:spcPts val="200"/>
              </a:spcAft>
              <a:defRPr sz="1800"/>
            </a:pPr>
            <a:r>
              <a:t>Как меняются ключевые слова по сезонам?</a:t>
            </a:r>
          </a:p>
          <a:p>
            <a:pPr lvl="1">
              <a:spcAft>
                <a:spcPts val="200"/>
              </a:spcAft>
              <a:defRPr sz="1800"/>
            </a:pPr>
            <a:r>
              <a:t>Можно ли использовать агрегаты для сравнения заведений?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Данные: Яндекс Карты (Казань)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Цели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/>
            </a:pPr>
            <a:r>
              <a:t>Цель:</a:t>
            </a:r>
          </a:p>
          <a:p>
            <a:pPr lvl="1">
              <a:spcAft>
                <a:spcPts val="200"/>
              </a:spcAft>
              <a:defRPr sz="1800"/>
            </a:pPr>
            <a:r>
              <a:t>Построить воспроизводимый пайплайн сбора и анализа текстовых отзывов.</a:t>
            </a:r>
          </a:p>
          <a:p>
            <a:pPr>
              <a:spcAft>
                <a:spcPts val="200"/>
              </a:spcAft>
              <a:defRPr sz="1800"/>
            </a:pPr>
            <a:r>
              <a:t>Задачи:</a:t>
            </a:r>
          </a:p>
          <a:p>
            <a:pPr lvl="1">
              <a:spcAft>
                <a:spcPts val="200"/>
              </a:spcAft>
              <a:defRPr sz="1800"/>
            </a:pPr>
            <a:r>
              <a:t>Собрать отзывы по списку организаций (скрейпер Playwright, JSONL‑выгрузка).</a:t>
            </a:r>
          </a:p>
          <a:p>
            <a:pPr lvl="1">
              <a:spcAft>
                <a:spcPts val="200"/>
              </a:spcAft>
              <a:defRPr sz="1800"/>
            </a:pPr>
            <a:r>
              <a:t>Очистить текст, получить токены и леммы, посчитать длину отзывов.</a:t>
            </a:r>
          </a:p>
          <a:p>
            <a:pPr lvl="1">
              <a:spcAft>
                <a:spcPts val="200"/>
              </a:spcAft>
              <a:defRPr sz="1800"/>
            </a:pPr>
            <a:r>
              <a:t>Собрать частоты лемм: общий топ, по оценке (low/high), по сезонам.</a:t>
            </a:r>
          </a:p>
          <a:p>
            <a:pPr lvl="1">
              <a:spcAft>
                <a:spcPts val="200"/>
              </a:spcAft>
              <a:defRPr sz="1800"/>
            </a:pPr>
            <a:r>
              <a:t>Сформировать агрегаты по организациям (кол‑во отзывов, средняя оценка и т.д.).</a:t>
            </a:r>
          </a:p>
          <a:p>
            <a:pPr lvl="1">
              <a:spcAft>
                <a:spcPts val="200"/>
              </a:spcAft>
              <a:defRPr sz="1800"/>
            </a:pPr>
            <a:r>
              <a:t>Подготовить визуализации и выводы (инсайты + ограничения).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Данные и структура файлов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/>
            </a:pPr>
            <a:r>
              <a:t>Гранулярность и ключевые таблицы:</a:t>
            </a:r>
          </a:p>
          <a:p>
            <a:pPr lvl="1">
              <a:spcAft>
                <a:spcPts val="200"/>
              </a:spcAft>
              <a:defRPr sz="1700"/>
            </a:pPr>
            <a:r>
              <a:t>reviews.csv — 1 строка = 1 отзыв (оценка, дата, сырой и очищенный текст, сезон/месяц).</a:t>
            </a:r>
          </a:p>
          <a:p>
            <a:pPr lvl="1">
              <a:spcAft>
                <a:spcPts val="200"/>
              </a:spcAft>
              <a:defRPr sz="1700"/>
            </a:pPr>
            <a:r>
              <a:t>review_tokens.csv — 1 строка = 1 токен в отзыве (token/lemma, позиция, сезон, группа оценки).</a:t>
            </a:r>
          </a:p>
          <a:p>
            <a:pPr lvl="1">
              <a:spcAft>
                <a:spcPts val="200"/>
              </a:spcAft>
              <a:defRPr sz="1700"/>
            </a:pPr>
            <a:r>
              <a:t>lemma_stats.csv — агрегаты по леммам (частота + доля в low/high).</a:t>
            </a:r>
          </a:p>
          <a:p>
            <a:pPr lvl="1">
              <a:spcAft>
                <a:spcPts val="200"/>
              </a:spcAft>
              <a:defRPr sz="1700"/>
            </a:pPr>
            <a:r>
              <a:t>season_lemma_stats.csv — частоты лемм по сезону и группе оценки.</a:t>
            </a:r>
          </a:p>
          <a:p>
            <a:pPr lvl="1">
              <a:spcAft>
                <a:spcPts val="200"/>
              </a:spcAft>
              <a:defRPr sz="1700"/>
            </a:pPr>
            <a:r>
              <a:t>season_lemma_stats_total.csv — частоты лемм по сезону (без оценки).</a:t>
            </a:r>
          </a:p>
          <a:p>
            <a:pPr lvl="1">
              <a:spcAft>
                <a:spcPts val="200"/>
              </a:spcAft>
              <a:defRPr sz="1700"/>
            </a:pPr>
            <a:r>
              <a:t>org_dim.csv — агрегаты по организациям (n_reviews, avg_rating, доли 1–2 и 5, качество текста).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Формат CSV: разделитель “;” • город: Казань • тип: кафе и рестораны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Сбор данных (скрейпер)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/>
            </a:pPr>
            <a:r>
              <a:t>Инструменты:</a:t>
            </a:r>
          </a:p>
          <a:p>
            <a:pPr lvl="1">
              <a:spcAft>
                <a:spcPts val="200"/>
              </a:spcAft>
              <a:defRPr sz="1700"/>
            </a:pPr>
            <a:r>
              <a:t>Python + Playwright (автоматизация браузера).</a:t>
            </a:r>
          </a:p>
          <a:p>
            <a:pPr lvl="1">
              <a:spcAft>
                <a:spcPts val="200"/>
              </a:spcAft>
              <a:defRPr sz="1700"/>
            </a:pPr>
            <a:r>
              <a:t>Вход: urls.txt со ссылками вида .../org/&lt;slug&gt;/&lt;id&gt;/reviews/</a:t>
            </a:r>
          </a:p>
          <a:p>
            <a:pPr lvl="1">
              <a:spcAft>
                <a:spcPts val="200"/>
              </a:spcAft>
              <a:defRPr sz="1700"/>
            </a:pPr>
            <a:r>
              <a:t>Выход: all_reviews.jsonl (1 строка = 1 отзыв).</a:t>
            </a:r>
          </a:p>
          <a:p>
            <a:pPr>
              <a:spcAft>
                <a:spcPts val="200"/>
              </a:spcAft>
              <a:defRPr sz="1700"/>
            </a:pPr>
            <a:r>
              <a:t>Ключевые параметры запуска:</a:t>
            </a:r>
          </a:p>
          <a:p>
            <a:pPr lvl="1">
              <a:spcAft>
                <a:spcPts val="200"/>
              </a:spcAft>
              <a:defRPr sz="1700"/>
            </a:pPr>
            <a:r>
              <a:t>--max-reviews 600 — лимит отзывов на организацию.</a:t>
            </a:r>
          </a:p>
          <a:p>
            <a:pPr lvl="1">
              <a:spcAft>
                <a:spcPts val="200"/>
              </a:spcAft>
              <a:defRPr sz="1700"/>
            </a:pPr>
            <a:r>
              <a:t>--block-resources — ускорение за счёт блокировки тяжёлых ресурсов.</a:t>
            </a:r>
          </a:p>
          <a:p>
            <a:pPr lvl="1">
              <a:spcAft>
                <a:spcPts val="200"/>
              </a:spcAft>
              <a:defRPr sz="1700"/>
            </a:pPr>
            <a:r>
              <a:t>CAPTCHA: при появлении скрипт делает паузу и просит решить вручную.</a:t>
            </a:r>
          </a:p>
          <a:p>
            <a:pPr>
              <a:spcAft>
                <a:spcPts val="200"/>
              </a:spcAft>
              <a:defRPr sz="1700"/>
            </a:pPr>
            <a:r>
              <a:t>Этика и устойчивость:</a:t>
            </a:r>
          </a:p>
          <a:p>
            <a:pPr lvl="1">
              <a:spcAft>
                <a:spcPts val="200"/>
              </a:spcAft>
              <a:defRPr sz="1700"/>
            </a:pPr>
            <a:r>
              <a:t>умеренная частота запросов, аккуратная обработка ошибок, не ломаем сайт.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Источник кода: README.md и scraper_for_reviews.py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Предобработка и признаки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/>
            </a:pPr>
            <a:r>
              <a:t>Текстовый пайплайн (концептуально):</a:t>
            </a:r>
          </a:p>
          <a:p>
            <a:pPr lvl="1">
              <a:spcAft>
                <a:spcPts val="200"/>
              </a:spcAft>
              <a:defRPr sz="1700"/>
            </a:pPr>
            <a:r>
              <a:t>Нормализация: нижний регистр, удаление пунктуации, стоп‑слов.</a:t>
            </a:r>
          </a:p>
          <a:p>
            <a:pPr lvl="1">
              <a:spcAft>
                <a:spcPts val="200"/>
              </a:spcAft>
              <a:defRPr sz="1700"/>
            </a:pPr>
            <a:r>
              <a:t>Лемматизация: приведение словоформ к общей основе (lemma).</a:t>
            </a:r>
          </a:p>
          <a:p>
            <a:pPr lvl="1">
              <a:spcAft>
                <a:spcPts val="200"/>
              </a:spcAft>
              <a:defRPr sz="1700"/>
            </a:pPr>
            <a:r>
              <a:t>Токенизация: разбиение на слова + позиция токена в отзыве.</a:t>
            </a:r>
          </a:p>
          <a:p>
            <a:pPr>
              <a:spcAft>
                <a:spcPts val="200"/>
              </a:spcAft>
              <a:defRPr sz="1700"/>
            </a:pPr>
            <a:r>
              <a:t>Целевые срезы анализа:</a:t>
            </a:r>
          </a:p>
          <a:p>
            <a:pPr lvl="1">
              <a:spcAft>
                <a:spcPts val="200"/>
              </a:spcAft>
              <a:defRPr sz="1700"/>
            </a:pPr>
            <a:r>
              <a:t>по оценке: low (1–2), mid (3), high (4–5).</a:t>
            </a:r>
          </a:p>
          <a:p>
            <a:pPr lvl="1">
              <a:spcAft>
                <a:spcPts val="200"/>
              </a:spcAft>
              <a:defRPr sz="1700"/>
            </a:pPr>
            <a:r>
              <a:t>по времени: месяц и сезон (winter/spring/summer/autumn).</a:t>
            </a:r>
          </a:p>
          <a:p>
            <a:pPr>
              <a:spcAft>
                <a:spcPts val="200"/>
              </a:spcAft>
              <a:defRPr sz="1700"/>
            </a:pPr>
            <a:r>
              <a:t>Почему леммы:</a:t>
            </a:r>
          </a:p>
          <a:p>
            <a:pPr lvl="1">
              <a:spcAft>
                <a:spcPts val="200"/>
              </a:spcAft>
              <a:defRPr sz="1700"/>
            </a:pPr>
            <a:r>
              <a:t>уменьшают “шум” от склонений/времён и помогают сравнивать частоты корректнее.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Обзор датасета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/>
            </a:pPr>
            <a:r>
              <a:t>Объём: 33 125 отзывов  100 организаций  28 709 авторов</a:t>
            </a:r>
          </a:p>
          <a:p>
            <a:pPr>
              <a:spcAft>
                <a:spcPts val="200"/>
              </a:spcAft>
              <a:defRPr sz="1700"/>
            </a:pPr>
            <a:r>
              <a:t>Период: 2016-10-11 — 2025-12-31</a:t>
            </a:r>
          </a:p>
          <a:p>
            <a:pPr>
              <a:spcAft>
                <a:spcPts val="200"/>
              </a:spcAft>
              <a:defRPr sz="1700"/>
            </a:pPr>
            <a:r>
              <a:t>Длина текста (clean): медиана 14 слов, среднее 19.3 слов</a:t>
            </a:r>
          </a:p>
          <a:p>
            <a:pPr>
              <a:spcAft>
                <a:spcPts val="200"/>
              </a:spcAft>
              <a:defRPr sz="1700"/>
            </a:pPr>
            <a:r>
              <a:t>Доля оценок 5: 77.9%</a:t>
            </a:r>
          </a:p>
          <a:p>
            <a:pPr>
              <a:spcAft>
                <a:spcPts val="200"/>
              </a:spcAft>
              <a:defRPr sz="1700"/>
            </a:pPr>
            <a:r>
              <a:t>Доля низких (1–2): 9.4%</a:t>
            </a:r>
          </a:p>
          <a:p>
            <a:pPr>
              <a:spcAft>
                <a:spcPts val="200"/>
              </a:spcAft>
              <a:defRPr sz="1700"/>
            </a:pPr>
            <a:r>
              <a:t>Замечание: оценки “0” встречаются редко и трактуются как пропуск/аномалия.</a:t>
            </a:r>
          </a:p>
        </p:txBody>
      </p:sp>
      <p:pic>
        <p:nvPicPr>
          <p:cNvPr id="4" name="Picture 3" descr="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537210"/>
            <a:ext cx="5303520" cy="2983230"/>
          </a:xfrm>
          <a:prstGeom prst="rect">
            <a:avLst/>
          </a:prstGeom>
        </p:spPr>
      </p:pic>
      <p:pic>
        <p:nvPicPr>
          <p:cNvPr id="5" name="Picture 4" descr="seaso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3429000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Сильный перекос в сторону 5★ — важно учитывать при интерпретации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Топ ключевых слов (частотный анализ)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394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/>
            </a:pPr>
            <a:r>
              <a:t>Что видим в топе:</a:t>
            </a:r>
          </a:p>
          <a:p>
            <a:pPr lvl="1">
              <a:spcAft>
                <a:spcPts val="200"/>
              </a:spcAft>
              <a:defRPr sz="1700"/>
            </a:pPr>
            <a:r>
              <a:t>вкус/еда/блюда (“вкусн”, “блюд”, “кухн”).</a:t>
            </a:r>
          </a:p>
          <a:p>
            <a:pPr lvl="1">
              <a:spcAft>
                <a:spcPts val="200"/>
              </a:spcAft>
              <a:defRPr sz="1700"/>
            </a:pPr>
            <a:r>
              <a:t>сервис (“персона”, “официант”, “обслуживан”).</a:t>
            </a:r>
          </a:p>
          <a:p>
            <a:pPr lvl="1">
              <a:spcAft>
                <a:spcPts val="200"/>
              </a:spcAft>
              <a:defRPr sz="1700"/>
            </a:pPr>
            <a:r>
              <a:t>общее впечатление (“уютн”, “атмосфер”, “приятн”).</a:t>
            </a:r>
          </a:p>
          <a:p>
            <a:pPr>
              <a:spcAft>
                <a:spcPts val="200"/>
              </a:spcAft>
              <a:defRPr sz="1700"/>
            </a:pPr>
            <a:r>
              <a:t>Как читать график:</a:t>
            </a:r>
          </a:p>
          <a:p>
            <a:pPr lvl="1">
              <a:spcAft>
                <a:spcPts val="200"/>
              </a:spcAft>
              <a:defRPr sz="1700"/>
            </a:pPr>
            <a:r>
              <a:t>леммы — это основы слов (например, “вкусн” ≈ вкусный/вкусно).</a:t>
            </a:r>
          </a:p>
          <a:p>
            <a:pPr lvl="1">
              <a:spcAft>
                <a:spcPts val="200"/>
              </a:spcAft>
              <a:defRPr sz="1700"/>
            </a:pPr>
            <a:r>
              <a:t>частота показывает, о чём пишут чаще всего, но не даёт “полярности”.</a:t>
            </a:r>
          </a:p>
        </p:txBody>
      </p:sp>
      <p:pic>
        <p:nvPicPr>
          <p:cNvPr id="4" name="Picture 3" descr="top_lem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577840" cy="30678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Леммы, связанные с высокими оценками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394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/>
            </a:pPr>
            <a:r>
              <a:t>Метрика:</a:t>
            </a:r>
          </a:p>
          <a:p>
            <a:pPr lvl="1">
              <a:spcAft>
                <a:spcPts val="200"/>
              </a:spcAft>
              <a:defRPr sz="1700"/>
            </a:pPr>
            <a:r>
              <a:t>share_high = доля употреблений леммы в отзывах 4–5★.</a:t>
            </a:r>
          </a:p>
          <a:p>
            <a:pPr>
              <a:spcAft>
                <a:spcPts val="200"/>
              </a:spcAft>
              <a:defRPr sz="1700"/>
            </a:pPr>
            <a:r>
              <a:t>Интерпретация:</a:t>
            </a:r>
          </a:p>
          <a:p>
            <a:pPr lvl="1">
              <a:spcAft>
                <a:spcPts val="200"/>
              </a:spcAft>
              <a:defRPr sz="1700"/>
            </a:pPr>
            <a:r>
              <a:t>слова с share_high ≈ 0.99 почти всегда встречаются в позитивных отзывах.</a:t>
            </a:r>
          </a:p>
          <a:p>
            <a:pPr lvl="1">
              <a:spcAft>
                <a:spcPts val="200"/>
              </a:spcAft>
              <a:defRPr sz="1700"/>
            </a:pPr>
            <a:r>
              <a:t>важно смотреть и на частоту: редкие слова могут быть “случайно идеальными”.</a:t>
            </a:r>
          </a:p>
        </p:txBody>
      </p:sp>
      <p:pic>
        <p:nvPicPr>
          <p:cNvPr id="4" name="Picture 3" descr="pos_lemmas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577840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Леммы, связанные с низкими оценками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394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/>
            </a:pPr>
            <a:r>
              <a:t>Метрика:</a:t>
            </a:r>
          </a:p>
          <a:p>
            <a:pPr lvl="1">
              <a:spcAft>
                <a:spcPts val="200"/>
              </a:spcAft>
              <a:defRPr sz="1700"/>
            </a:pPr>
            <a:r>
              <a:t>share_low = доля употреблений леммы в отзывах 1–2★.</a:t>
            </a:r>
          </a:p>
          <a:p>
            <a:pPr>
              <a:spcAft>
                <a:spcPts val="200"/>
              </a:spcAft>
              <a:defRPr sz="1700"/>
            </a:pPr>
            <a:r>
              <a:t>Типовые триггеры негатива:</a:t>
            </a:r>
          </a:p>
          <a:p>
            <a:pPr lvl="1">
              <a:spcAft>
                <a:spcPts val="200"/>
              </a:spcAft>
              <a:defRPr sz="1700"/>
            </a:pPr>
            <a:r>
              <a:t>качество еды (“невкусн”, “отвратительн”).</a:t>
            </a:r>
          </a:p>
          <a:p>
            <a:pPr lvl="1">
              <a:spcAft>
                <a:spcPts val="200"/>
              </a:spcAft>
              <a:defRPr sz="1700"/>
            </a:pPr>
            <a:r>
              <a:t>санитария (“грязн”).</a:t>
            </a:r>
          </a:p>
          <a:p>
            <a:pPr lvl="1">
              <a:spcAft>
                <a:spcPts val="200"/>
              </a:spcAft>
              <a:defRPr sz="1700"/>
            </a:pPr>
            <a:r>
              <a:t>ожидание/скорость (“минут”, “час”, “ждал”).</a:t>
            </a:r>
          </a:p>
          <a:p>
            <a:pPr lvl="1">
              <a:spcAft>
                <a:spcPts val="200"/>
              </a:spcAft>
              <a:defRPr sz="1700"/>
            </a:pPr>
            <a:r>
              <a:t>коммуникация (“ответ” — часто в контексте претензий).</a:t>
            </a:r>
          </a:p>
        </p:txBody>
      </p:sp>
      <p:pic>
        <p:nvPicPr>
          <p:cNvPr id="4" name="Picture 3" descr="neg_lemmas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577840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Сезонность тем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394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/>
            </a:pPr>
            <a:r>
              <a:t>Подход:</a:t>
            </a:r>
          </a:p>
          <a:p>
            <a:pPr lvl="1">
              <a:spcAft>
                <a:spcPts val="200"/>
              </a:spcAft>
              <a:defRPr sz="1700"/>
            </a:pPr>
            <a:r>
              <a:t>считаем частоты лемм по сезонам и сравниваем с общей частотой (over‑index).</a:t>
            </a:r>
          </a:p>
          <a:p>
            <a:pPr>
              <a:spcAft>
                <a:spcPts val="200"/>
              </a:spcAft>
              <a:defRPr sz="1700"/>
            </a:pPr>
            <a:r>
              <a:t>Примеры паттернов:</a:t>
            </a:r>
          </a:p>
          <a:p>
            <a:pPr lvl="1">
              <a:spcAft>
                <a:spcPts val="200"/>
              </a:spcAft>
              <a:defRPr sz="1700"/>
            </a:pPr>
            <a:r>
              <a:t>Лето: “террас”, “веранд”, “летн”, “лимонад”.</a:t>
            </a:r>
          </a:p>
          <a:p>
            <a:pPr lvl="1">
              <a:spcAft>
                <a:spcPts val="200"/>
              </a:spcAft>
              <a:defRPr sz="1700"/>
            </a:pPr>
            <a:r>
              <a:t>Зима: “доставк”, “праздник” и т.п.</a:t>
            </a:r>
          </a:p>
          <a:p>
            <a:pPr lvl="1">
              <a:spcAft>
                <a:spcPts val="200"/>
              </a:spcAft>
              <a:defRPr sz="1700"/>
            </a:pPr>
            <a:r>
              <a:t>Осень/весна: сдвиги в специфических категориях (зависят от выборки заведений).</a:t>
            </a:r>
          </a:p>
        </p:txBody>
      </p:sp>
      <p:pic>
        <p:nvPicPr>
          <p:cNvPr id="4" name="Picture 3" descr="season_over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577840" cy="34603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Сравнение организаций (агрегаты)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394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/>
            </a:pPr>
            <a:r>
              <a:t>Что есть в org_dim.csv:</a:t>
            </a:r>
          </a:p>
          <a:p>
            <a:pPr lvl="1">
              <a:spcAft>
                <a:spcPts val="200"/>
              </a:spcAft>
              <a:defRPr sz="1700"/>
            </a:pPr>
            <a:r>
              <a:t>n_reviews, n_authors, avg_rating, доли 1–2★ и 5★, медиана длины текста.</a:t>
            </a:r>
          </a:p>
          <a:p>
            <a:pPr lvl="1">
              <a:spcAft>
                <a:spcPts val="200"/>
              </a:spcAft>
              <a:defRPr sz="1700"/>
            </a:pPr>
            <a:r>
              <a:t>показатели качества: доля коротких (≤20 слов), дубликаты нормализованного текста.</a:t>
            </a:r>
          </a:p>
          <a:p>
            <a:pPr>
              <a:spcAft>
                <a:spcPts val="200"/>
              </a:spcAft>
              <a:defRPr sz="1700"/>
            </a:pPr>
            <a:r>
              <a:t>Как использовать:</a:t>
            </a:r>
          </a:p>
          <a:p>
            <a:pPr lvl="1">
              <a:spcAft>
                <a:spcPts val="200"/>
              </a:spcAft>
              <a:defRPr sz="1700"/>
            </a:pPr>
            <a:r>
              <a:t>для бенчмарка заведений и для фильтрации “шумных” отзывов.</a:t>
            </a:r>
          </a:p>
          <a:p>
            <a:pPr lvl="1">
              <a:spcAft>
                <a:spcPts val="200"/>
              </a:spcAft>
              <a:defRPr sz="1700"/>
            </a:pPr>
            <a:r>
              <a:t>сравнения корректнее делать при достаточном числе отзывов.</a:t>
            </a:r>
          </a:p>
        </p:txBody>
      </p:sp>
      <p:pic>
        <p:nvPicPr>
          <p:cNvPr id="4" name="Picture 3" descr="org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252" y="727038"/>
            <a:ext cx="5532120" cy="3042666"/>
          </a:xfrm>
          <a:prstGeom prst="rect">
            <a:avLst/>
          </a:prstGeom>
        </p:spPr>
      </p:pic>
      <p:pic>
        <p:nvPicPr>
          <p:cNvPr id="5" name="Picture 4" descr="org_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252" y="3769704"/>
            <a:ext cx="5532120" cy="30426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Ограничения и дальнейшие шаги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/>
            </a:pPr>
            <a:r>
              <a:rPr dirty="0" err="1"/>
              <a:t>Ограничения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подхода</a:t>
            </a:r>
            <a:r>
              <a:rPr dirty="0"/>
              <a:t>:</a:t>
            </a:r>
          </a:p>
          <a:p>
            <a:pPr lvl="1">
              <a:spcAft>
                <a:spcPts val="200"/>
              </a:spcAft>
              <a:defRPr sz="1700"/>
            </a:pPr>
            <a:r>
              <a:rPr dirty="0" err="1"/>
              <a:t>Сильный</a:t>
            </a:r>
            <a:r>
              <a:rPr dirty="0"/>
              <a:t> </a:t>
            </a:r>
            <a:r>
              <a:rPr dirty="0" err="1"/>
              <a:t>перекос</a:t>
            </a:r>
            <a:r>
              <a:rPr dirty="0"/>
              <a:t> </a:t>
            </a:r>
            <a:r>
              <a:rPr dirty="0" err="1"/>
              <a:t>оценок</a:t>
            </a:r>
            <a:r>
              <a:rPr dirty="0"/>
              <a:t> в </a:t>
            </a:r>
            <a:r>
              <a:rPr dirty="0" err="1"/>
              <a:t>сторону</a:t>
            </a:r>
            <a:r>
              <a:rPr dirty="0"/>
              <a:t> 5★ → “</a:t>
            </a:r>
            <a:r>
              <a:rPr dirty="0" err="1"/>
              <a:t>позитивных</a:t>
            </a:r>
            <a:r>
              <a:rPr dirty="0"/>
              <a:t>” </a:t>
            </a:r>
            <a:r>
              <a:rPr dirty="0" err="1"/>
              <a:t>слов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.</a:t>
            </a:r>
          </a:p>
          <a:p>
            <a:pPr lvl="1">
              <a:spcAft>
                <a:spcPts val="200"/>
              </a:spcAft>
              <a:defRPr sz="1700"/>
            </a:pPr>
            <a:r>
              <a:rPr dirty="0" err="1"/>
              <a:t>Частотность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различает</a:t>
            </a:r>
            <a:r>
              <a:rPr dirty="0"/>
              <a:t> </a:t>
            </a:r>
            <a:r>
              <a:rPr dirty="0" err="1"/>
              <a:t>контекст</a:t>
            </a:r>
            <a:r>
              <a:rPr dirty="0"/>
              <a:t> (</a:t>
            </a:r>
            <a:r>
              <a:rPr dirty="0" err="1"/>
              <a:t>ирония</a:t>
            </a:r>
            <a:r>
              <a:rPr dirty="0"/>
              <a:t>, </a:t>
            </a:r>
            <a:r>
              <a:rPr dirty="0" err="1"/>
              <a:t>отрицания</a:t>
            </a:r>
            <a:r>
              <a:rPr dirty="0"/>
              <a:t>, “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вкусно</a:t>
            </a:r>
            <a:r>
              <a:rPr dirty="0"/>
              <a:t>”).</a:t>
            </a:r>
          </a:p>
          <a:p>
            <a:pPr lvl="1">
              <a:spcAft>
                <a:spcPts val="200"/>
              </a:spcAft>
              <a:defRPr sz="1700"/>
            </a:pPr>
            <a:r>
              <a:rPr dirty="0" err="1"/>
              <a:t>Леммы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выглядеть</a:t>
            </a:r>
            <a:r>
              <a:rPr dirty="0"/>
              <a:t> “</a:t>
            </a:r>
            <a:r>
              <a:rPr dirty="0" err="1"/>
              <a:t>обрезанными</a:t>
            </a:r>
            <a:r>
              <a:rPr dirty="0"/>
              <a:t>” (</a:t>
            </a:r>
            <a:r>
              <a:rPr dirty="0" err="1"/>
              <a:t>стем‑эффект</a:t>
            </a:r>
            <a:r>
              <a:rPr dirty="0"/>
              <a:t>)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нормально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частотного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.</a:t>
            </a:r>
          </a:p>
          <a:p>
            <a:pPr lvl="1">
              <a:spcAft>
                <a:spcPts val="200"/>
              </a:spcAft>
              <a:defRPr sz="1700"/>
            </a:pPr>
            <a:r>
              <a:rPr dirty="0" err="1"/>
              <a:t>Сезонность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состава</a:t>
            </a:r>
            <a:r>
              <a:rPr dirty="0"/>
              <a:t> </a:t>
            </a:r>
            <a:r>
              <a:rPr dirty="0" err="1"/>
              <a:t>выборки</a:t>
            </a:r>
            <a:r>
              <a:rPr dirty="0"/>
              <a:t> </a:t>
            </a:r>
            <a:r>
              <a:rPr dirty="0" err="1"/>
              <a:t>заведений</a:t>
            </a:r>
            <a:r>
              <a:rPr dirty="0"/>
              <a:t> и </a:t>
            </a:r>
            <a:r>
              <a:rPr dirty="0" err="1"/>
              <a:t>периода</a:t>
            </a:r>
            <a:r>
              <a:rPr dirty="0"/>
              <a:t> </a:t>
            </a:r>
            <a:r>
              <a:rPr dirty="0" err="1"/>
              <a:t>сбора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Спасибо!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1092</Words>
  <Application>Microsoft Office PowerPoint</Application>
  <PresentationFormat>Широкоэкранный</PresentationFormat>
  <Paragraphs>108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Админ</dc:creator>
  <cp:keywords/>
  <dc:description>generated using python-pptx</dc:description>
  <cp:lastModifiedBy>Александр</cp:lastModifiedBy>
  <cp:revision>3</cp:revision>
  <dcterms:created xsi:type="dcterms:W3CDTF">2013-01-27T09:14:16Z</dcterms:created>
  <dcterms:modified xsi:type="dcterms:W3CDTF">2026-01-18T20:01:21Z</dcterms:modified>
  <cp:category/>
</cp:coreProperties>
</file>